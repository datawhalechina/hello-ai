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  <Override PartName="/ppt/charts/chart2.xml" ContentType="application/vnd.openxmlformats-officedocument.drawingml.chart+xml"/>
  <Override PartName="/ppt/embeddings/Microsoft_Excel_Worksheet2.xlsx" ContentType="application/vnd.openxmlformats-officedocument.spreadsheetml.sheet"/>
  <Override PartName="/ppt/charts/chart3.xml" ContentType="application/vnd.openxmlformats-officedocument.drawingml.chart+xml"/>
  <Override PartName="/ppt/embeddings/Microsoft_Excel_Worksheet3.xlsx" ContentType="application/vnd.openxmlformats-officedocument.spreadsheetml.sheet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952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  <Relationship Id="rId12" Type="http://schemas.openxmlformats.org/officeDocument/2006/relationships/theme" Target="theme/theme1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Microsoft_Excel_Workshee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Microsoft_Excel_Workshee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Microsoft_Excel_Worksheet3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144"/>
          <c:y val="0.167"/>
          <c:w val="0.774"/>
          <c:h val="0.7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5470C6"/>
            </a:solidFill>
          </c:spPr>
          <c:dPt>
            <c:idx val="0"/>
            <c:spPr>
              <a:solidFill>
                <a:srgbClr val="B9B9B9"/>
              </a:solidFill>
            </c:spPr>
          </c:dPt>
          <c:dPt>
            <c:idx val="1"/>
            <c:spPr>
              <a:solidFill>
                <a:srgbClr val="B9B9B9"/>
              </a:solidFill>
            </c:spPr>
          </c:dPt>
          <c:dPt>
            <c:idx val="2"/>
            <c:spPr>
              <a:solidFill>
                <a:srgbClr val="B9B9B9"/>
              </a:solidFill>
            </c:spPr>
          </c:dPt>
          <c:dPt>
            <c:idx val="3"/>
            <c:spPr>
              <a:solidFill>
                <a:srgbClr val="F25532"/>
              </a:solidFill>
            </c:spPr>
          </c:dPt>
          <c:dPt>
            <c:idx val="4"/>
            <c:spPr>
              <a:solidFill>
                <a:srgbClr val="F25532"/>
              </a:solidFill>
            </c:spPr>
          </c:dPt>
          <c:dPt>
            <c:idx val="5"/>
            <c:spPr>
              <a:solidFill>
                <a:srgbClr val="F25532"/>
              </a:solidFill>
            </c:spPr>
          </c:dPt>
          <c:dLbls>
            <c:numFmt formatCode="0.00" sourceLinked="0"/>
            <c:txPr>
              <a:bodyPr/>
              <a:lstStyle/>
              <a:p>
                <a:pPr>
                  <a:defRPr sz="1350" b="1">
                    <a:solidFill>
                      <a:srgbClr val="1A1A1A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</c:dLbls>
          <c:cat>
            <c:strRef>
              <c:f>Sheet1!$A$2:$A$7</c:f>
              <c:strCache>
                <c:ptCount val="6"/>
                <c:pt idx="0">
                  <c:v>Q1末</c:v>
                </c:pt>
                <c:pt idx="1">
                  <c:v>Q2末</c:v>
                </c:pt>
                <c:pt idx="2">
                  <c:v>Q3末</c:v>
                </c:pt>
                <c:pt idx="3">
                  <c:v>Q4末</c:v>
                </c:pt>
                <c:pt idx="4">
                  <c:v>Q5末</c:v>
                </c:pt>
                <c:pt idx="5">
                  <c:v>Q6末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87.47</c:v>
                </c:pt>
                <c:pt idx="1">
                  <c:v>91.59</c:v>
                </c:pt>
                <c:pt idx="2">
                  <c:v>99.94</c:v>
                </c:pt>
                <c:pt idx="3">
                  <c:v>224.19</c:v>
                </c:pt>
                <c:pt idx="4">
                  <c:v>459.09</c:v>
                </c:pt>
                <c:pt idx="5">
                  <c:v>837.63</c:v>
                </c:pt>
              </c:numCache>
            </c:numRef>
          </c:val>
        </c:ser>
        <c:gapWidth val="73"/>
        <c:overlap val="-13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majorTickMark val="none"/>
        <c:tickLblPos val="low"/>
        <c:spPr>
          <a:ln w="9523">
            <a:solidFill>
              <a:srgbClr val="D8D8D4"/>
            </a:solidFill>
          </a:ln>
        </c:spPr>
        <c:txPr>
          <a:bodyPr/>
          <a:lstStyle/>
          <a:p>
            <a:pPr>
              <a:defRPr sz="1350">
                <a:solidFill>
                  <a:srgbClr val="1A1A1A"/>
                </a:solidFill>
              </a:defRPr>
            </a:pPr>
            <a:endParaRPr lang="zh-CN"/>
          </a:p>
        </c:txPr>
        <c:crossAx val="222222222"/>
        <c:crosses val="autoZero"/>
        <c:lblOffset val="0"/>
      </c:catAx>
      <c:valAx>
        <c:axId val="222222222"/>
        <c:scaling>
          <c:orientation val="minMax"/>
          <c:min val="0"/>
        </c:scaling>
        <c:delete val="0"/>
        <c:axPos val="l"/>
        <c:majorGridlines>
          <c:spPr>
            <a:ln w="9523">
              <a:solidFill>
                <a:srgbClr val="F0EEEB"/>
              </a:solidFill>
              <a:prstDash val="solid"/>
            </a:ln>
          </c:spPr>
        </c:majorGridlines>
        <c:title>
          <c:layout>
            <c:manualLayout>
              <c:xMode val="edge"/>
              <c:yMode val="edge"/>
              <c:x val="0.10399999999999998"/>
              <c:y val="0.07700000000000001"/>
            </c:manualLayout>
          </c:layout>
          <c:tx>
            <c:rich>
              <a:bodyPr rot="0" vert="horz" wrap="none"/>
              <a:lstStyle/>
              <a:p>
                <a:pPr>
                  <a:defRPr sz="1200">
                    <a:solidFill>
                      <a:srgbClr val="7A7A7A"/>
                    </a:solidFill>
                  </a:defRPr>
                </a:pPr>
                <a:r>
                  <a:rPr lang="zh-CN" sz="1200">
                    <a:solidFill>
                      <a:srgbClr val="7A7A7A"/>
                    </a:solidFill>
                  </a:rPr>
                  <a:t>万元</a:t>
                </a:r>
              </a:p>
            </c:rich>
          </c:tx>
          <c:overlay val="0"/>
        </c:title>
        <c:numFmt formatCode="#,##0" sourceLinked="0"/>
        <c:majorTickMark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7A7A7A"/>
                </a:solidFill>
              </a:defRPr>
            </a:pPr>
            <a:endParaRPr lang="zh-CN"/>
          </a:p>
        </c:txPr>
        <c:crossAx val="111111111"/>
        <c:crosses val="autoZero"/>
        <c:crossBetween val="between"/>
        <c:majorUnit val="200"/>
      </c:valAx>
    </c:plotArea>
    <c:plotVisOnly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152"/>
          <c:y val="0.152"/>
          <c:w val="0.744"/>
          <c:h val="0.714"/>
        </c:manualLayout>
      </c:layout>
      <c:areaChart>
        <c:grouping val="standar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> </c:v>
                </c:pt>
              </c:strCache>
            </c:strRef>
          </c:tx>
          <c:spPr>
            <a:solidFill>
              <a:srgbClr val="F25532">
                <a:alpha val="8000"/>
              </a:srgbClr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首发</c:v>
                </c:pt>
                <c:pt idx="1">
                  <c:v>调整1</c:v>
                </c:pt>
                <c:pt idx="2">
                  <c:v>调整2</c:v>
                </c:pt>
                <c:pt idx="3">
                  <c:v>调整3</c:v>
                </c:pt>
                <c:pt idx="4">
                  <c:v>调整4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719</c:v>
                </c:pt>
                <c:pt idx="1">
                  <c:v>720</c:v>
                </c:pt>
                <c:pt idx="2">
                  <c:v>730</c:v>
                </c:pt>
                <c:pt idx="3">
                  <c:v>880</c:v>
                </c:pt>
                <c:pt idx="4">
                  <c:v>930</c:v>
                </c:pt>
              </c:numCache>
            </c:numRef>
          </c:val>
        </c:ser>
        <c:axId val="111111111"/>
        <c:axId val="222222222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21426">
              <a:solidFill>
                <a:srgbClr val="F25532"/>
              </a:solidFill>
            </a:ln>
          </c:spPr>
          <c:marker>
            <c:symbol val="circle"/>
            <c:size val="8"/>
            <c:spPr>
              <a:solidFill>
                <a:srgbClr val="F25532"/>
              </a:solidFill>
              <a:ln>
                <a:noFill/>
              </a:ln>
            </c:spPr>
          </c:marker>
          <c:dLbls>
            <c:txPr>
              <a:bodyPr/>
              <a:lstStyle/>
              <a:p>
                <a:pPr>
                  <a:defRPr sz="1350" b="1">
                    <a:solidFill>
                      <a:srgbClr val="1A1A1A"/>
                    </a:solidFill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</c:dLbls>
          <c:cat>
            <c:strRef>
              <c:f>Sheet1!$A$2:$A$6</c:f>
              <c:strCache>
                <c:ptCount val="5"/>
                <c:pt idx="0">
                  <c:v>首发</c:v>
                </c:pt>
                <c:pt idx="1">
                  <c:v>调整1</c:v>
                </c:pt>
                <c:pt idx="2">
                  <c:v>调整2</c:v>
                </c:pt>
                <c:pt idx="3">
                  <c:v>调整3</c:v>
                </c:pt>
                <c:pt idx="4">
                  <c:v>调整4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719</c:v>
                </c:pt>
                <c:pt idx="1">
                  <c:v>720</c:v>
                </c:pt>
                <c:pt idx="2">
                  <c:v>730</c:v>
                </c:pt>
                <c:pt idx="3">
                  <c:v>880</c:v>
                </c:pt>
                <c:pt idx="4">
                  <c:v>930</c:v>
                </c:pt>
              </c:numCache>
            </c:numRef>
          </c:val>
          <c:smooth val="0"/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majorTickMark val="none"/>
        <c:tickLblPos val="low"/>
        <c:spPr>
          <a:ln w="9523">
            <a:solidFill>
              <a:srgbClr val="D8D8D4"/>
            </a:solidFill>
          </a:ln>
        </c:spPr>
        <c:txPr>
          <a:bodyPr/>
          <a:lstStyle/>
          <a:p>
            <a:pPr>
              <a:defRPr sz="1350">
                <a:solidFill>
                  <a:srgbClr val="1A1A1A"/>
                </a:solidFill>
              </a:defRPr>
            </a:pPr>
            <a:endParaRPr lang="zh-CN"/>
          </a:p>
        </c:txPr>
        <c:crossAx val="222222222"/>
        <c:crosses val="autoZero"/>
        <c:lblOffset val="0"/>
      </c:catAx>
      <c:valAx>
        <c:axId val="222222222"/>
        <c:scaling>
          <c:orientation val="minMax"/>
          <c:min val="600"/>
        </c:scaling>
        <c:delete val="0"/>
        <c:axPos val="l"/>
        <c:majorGridlines>
          <c:spPr>
            <a:ln w="9523">
              <a:solidFill>
                <a:srgbClr val="F0EEEB"/>
              </a:solidFill>
              <a:prstDash val="solid"/>
            </a:ln>
          </c:spPr>
        </c:majorGridlines>
        <c:title>
          <c:layout>
            <c:manualLayout>
              <c:xMode val="edge"/>
              <c:yMode val="edge"/>
              <c:x val="0.127"/>
              <c:y val="0.062"/>
            </c:manualLayout>
          </c:layout>
          <c:tx>
            <c:rich>
              <a:bodyPr rot="0" vert="horz" wrap="none"/>
              <a:lstStyle/>
              <a:p>
                <a:pPr>
                  <a:defRPr sz="1200">
                    <a:solidFill>
                      <a:srgbClr val="7A7A7A"/>
                    </a:solidFill>
                  </a:defRPr>
                </a:pPr>
                <a:r>
                  <a:rPr lang="zh-CN" sz="1200">
                    <a:solidFill>
                      <a:srgbClr val="7A7A7A"/>
                    </a:solidFill>
                  </a:rPr>
                  <a:t>元</a:t>
                </a:r>
              </a:p>
            </c:rich>
          </c:tx>
          <c:overlay val="0"/>
        </c:title>
        <c:numFmt formatCode="#,##0" sourceLinked="0"/>
        <c:majorTickMark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7A7A7A"/>
                </a:solidFill>
              </a:defRPr>
            </a:pPr>
            <a:endParaRPr lang="zh-CN"/>
          </a:p>
        </c:txPr>
        <c:crossAx val="111111111"/>
        <c:crosses val="autoZero"/>
        <c:crossBetween val="between"/>
        <c:majorUnit val="50"/>
      </c:valAx>
    </c:plotArea>
    <c:plotVisOnly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157"/>
          <c:y val="0.159"/>
          <c:w val="0.751"/>
          <c:h val="0.7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5470C6"/>
            </a:solidFill>
          </c:spPr>
          <c:dPt>
            <c:idx val="0"/>
            <c:spPr>
              <a:solidFill>
                <a:srgbClr val="F25532"/>
              </a:solidFill>
            </c:spPr>
          </c:dPt>
          <c:dPt>
            <c:idx val="1"/>
            <c:spPr>
              <a:solidFill>
                <a:srgbClr val="B9B9B9"/>
              </a:solidFill>
            </c:spPr>
          </c:dPt>
          <c:dPt>
            <c:idx val="2"/>
            <c:spPr>
              <a:solidFill>
                <a:srgbClr val="B9B9B9"/>
              </a:solidFill>
            </c:spPr>
          </c:dPt>
          <c:dPt>
            <c:idx val="3"/>
            <c:spPr>
              <a:solidFill>
                <a:srgbClr val="B9B9B9"/>
              </a:solidFill>
            </c:spPr>
          </c:dPt>
          <c:dPt>
            <c:idx val="4"/>
            <c:spPr>
              <a:solidFill>
                <a:srgbClr val="B9B9B9"/>
              </a:solidFill>
            </c:spPr>
          </c:dPt>
          <c:dPt>
            <c:idx val="5"/>
            <c:spPr>
              <a:solidFill>
                <a:srgbClr val="B9B9B9"/>
              </a:solidFill>
            </c:spPr>
          </c:dPt>
          <c:dLbls>
            <c:numFmt formatCode="0.00" sourceLinked="0"/>
            <c:txPr>
              <a:bodyPr/>
              <a:lstStyle/>
              <a:p>
                <a:pPr>
                  <a:defRPr sz="1350" b="1">
                    <a:solidFill>
                      <a:srgbClr val="1A1A1A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</c:dLbls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87.47</c:v>
                </c:pt>
                <c:pt idx="1">
                  <c:v>91.59</c:v>
                </c:pt>
                <c:pt idx="2">
                  <c:v>99.94</c:v>
                </c:pt>
                <c:pt idx="3">
                  <c:v>224.19</c:v>
                </c:pt>
                <c:pt idx="4">
                  <c:v>459.09</c:v>
                </c:pt>
                <c:pt idx="5">
                  <c:v>837.63</c:v>
                </c:pt>
              </c:numCache>
            </c:numRef>
          </c:val>
        </c:ser>
        <c:gapWidth val="67"/>
        <c:overlap val="-13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majorTickMark val="none"/>
        <c:tickLblPos val="low"/>
        <c:spPr>
          <a:ln w="9523">
            <a:solidFill>
              <a:srgbClr val="D8D8D4"/>
            </a:solidFill>
          </a:ln>
        </c:spPr>
        <c:txPr>
          <a:bodyPr/>
          <a:lstStyle/>
          <a:p>
            <a:pPr>
              <a:defRPr sz="1350">
                <a:solidFill>
                  <a:srgbClr val="1A1A1A"/>
                </a:solidFill>
              </a:defRPr>
            </a:pPr>
            <a:endParaRPr lang="zh-CN"/>
          </a:p>
        </c:txPr>
        <c:crossAx val="222222222"/>
        <c:crosses val="autoZero"/>
        <c:lblOffset val="0"/>
      </c:catAx>
      <c:valAx>
        <c:axId val="222222222"/>
        <c:scaling>
          <c:orientation val="minMax"/>
          <c:min val="0"/>
        </c:scaling>
        <c:delete val="0"/>
        <c:axPos val="l"/>
        <c:majorGridlines>
          <c:spPr>
            <a:ln w="9523">
              <a:solidFill>
                <a:srgbClr val="F0EEEB"/>
              </a:solidFill>
              <a:prstDash val="solid"/>
            </a:ln>
          </c:spPr>
        </c:majorGridlines>
        <c:title>
          <c:layout>
            <c:manualLayout>
              <c:xMode val="edge"/>
              <c:yMode val="edge"/>
              <c:x val="0.112"/>
              <c:y val="0.069"/>
            </c:manualLayout>
          </c:layout>
          <c:tx>
            <c:rich>
              <a:bodyPr rot="0" vert="horz" wrap="none"/>
              <a:lstStyle/>
              <a:p>
                <a:pPr>
                  <a:defRPr sz="1200">
                    <a:solidFill>
                      <a:srgbClr val="7A7A7A"/>
                    </a:solidFill>
                  </a:defRPr>
                </a:pPr>
                <a:r>
                  <a:rPr lang="zh-CN" sz="1200">
                    <a:solidFill>
                      <a:srgbClr val="7A7A7A"/>
                    </a:solidFill>
                  </a:rPr>
                  <a:t>万元</a:t>
                </a:r>
              </a:p>
            </c:rich>
          </c:tx>
          <c:overlay val="0"/>
        </c:title>
        <c:numFmt formatCode="#,##0" sourceLinked="0"/>
        <c:majorTickMark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7A7A7A"/>
                </a:solidFill>
              </a:defRPr>
            </a:pPr>
            <a:endParaRPr lang="zh-CN"/>
          </a:p>
        </c:txPr>
        <c:crossAx val="111111111"/>
        <c:crosses val="autoZero"/>
        <c:crossBetween val="between"/>
        <c:majorUnit val="200"/>
      </c:valAx>
    </c:plotArea>
    <c:plotVisOnly val="1"/>
  </c:chart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1603215068-6"/>
          <p:cNvSpPr/>
          <p:nvPr/>
        </p:nvSpPr>
        <p:spPr>
          <a:xfrm>
            <a:off x="0" y="857"/>
            <a:ext cx="5142214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el-1791603215069-7"/>
          <p:cNvSpPr/>
          <p:nvPr/>
        </p:nvSpPr>
        <p:spPr>
          <a:xfrm>
            <a:off x="837990" y="648395"/>
            <a:ext cx="4170907" cy="54469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45" algn="in">
            <a:solidFill>
              <a:srgbClr val="F255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el-1791603215070-8"/>
          <p:cNvSpPr/>
          <p:nvPr/>
        </p:nvSpPr>
        <p:spPr>
          <a:xfrm>
            <a:off x="971307" y="800757"/>
            <a:ext cx="4170907" cy="52945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D5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l-1791603215070-9"/>
          <p:cNvSpPr/>
          <p:nvPr/>
        </p:nvSpPr>
        <p:spPr>
          <a:xfrm>
            <a:off x="5142214" y="857"/>
            <a:ext cx="114271" cy="217115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el-1791603215164-70"/>
          <p:cNvSpPr/>
          <p:nvPr/>
        </p:nvSpPr>
        <p:spPr>
          <a:xfrm rot="2700000">
            <a:off x="11236690" y="419852"/>
            <a:ext cx="247588" cy="247588"/>
          </a:xfrm>
          <a:prstGeom prst="roundRect">
            <a:avLst>
              <a:gd name="adj" fmla="val 7694"/>
            </a:avLst>
          </a:prstGeom>
          <a:solidFill>
            <a:srgbClr val="F25532">
              <a:alpha val="8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1603215166-71"/>
          <p:cNvSpPr/>
          <p:nvPr/>
        </p:nvSpPr>
        <p:spPr>
          <a:xfrm rot="2700000">
            <a:off x="11370007" y="419852"/>
            <a:ext cx="247588" cy="247588"/>
          </a:xfrm>
          <a:prstGeom prst="roundRect">
            <a:avLst>
              <a:gd name="adj" fmla="val 7694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8" name="el-1791603215076-11"/>
          <p:cNvCxnSpPr/>
          <p:nvPr/>
        </p:nvCxnSpPr>
        <p:spPr>
          <a:xfrm>
            <a:off x="10175513" y="791235"/>
            <a:ext cx="1480172" cy="914"/>
          </a:xfrm>
          <a:prstGeom prst="line">
            <a:avLst/>
          </a:prstGeom>
          <a:ln w="19045" cap="flat">
            <a:solidFill>
              <a:srgbClr val="F255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91603215081-13"/>
          <p:cNvSpPr/>
          <p:nvPr/>
        </p:nvSpPr>
        <p:spPr>
          <a:xfrm>
            <a:off x="5827843" y="4781212"/>
            <a:ext cx="2865564" cy="495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956" y="99051"/>
                </a:moveTo>
                <a:lnTo>
                  <a:pt x="5332" y="96205"/>
                </a:lnTo>
                <a:lnTo>
                  <a:pt x="3841" y="91564"/>
                </a:lnTo>
                <a:lnTo>
                  <a:pt x="2531" y="85359"/>
                </a:lnTo>
                <a:lnTo>
                  <a:pt x="1456" y="77769"/>
                </a:lnTo>
                <a:lnTo>
                  <a:pt x="659" y="69128"/>
                </a:lnTo>
                <a:lnTo>
                  <a:pt x="168" y="59744"/>
                </a:lnTo>
                <a:lnTo>
                  <a:pt x="0" y="50000"/>
                </a:lnTo>
                <a:lnTo>
                  <a:pt x="168" y="40256"/>
                </a:lnTo>
                <a:lnTo>
                  <a:pt x="659" y="30872"/>
                </a:lnTo>
                <a:lnTo>
                  <a:pt x="1456" y="22231"/>
                </a:lnTo>
                <a:lnTo>
                  <a:pt x="2531" y="14641"/>
                </a:lnTo>
                <a:lnTo>
                  <a:pt x="3841" y="8436"/>
                </a:lnTo>
                <a:lnTo>
                  <a:pt x="5332" y="3795"/>
                </a:lnTo>
                <a:lnTo>
                  <a:pt x="6956" y="949"/>
                </a:lnTo>
                <a:lnTo>
                  <a:pt x="8642" y="0"/>
                </a:lnTo>
                <a:lnTo>
                  <a:pt x="100000" y="0"/>
                </a:lnTo>
                <a:lnTo>
                  <a:pt x="100000" y="100000"/>
                </a:lnTo>
                <a:lnTo>
                  <a:pt x="8642" y="100000"/>
                </a:lnTo>
                <a:close/>
              </a:path>
            </a:pathLst>
          </a:cu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1603215083-15"/>
          <p:cNvSpPr/>
          <p:nvPr/>
        </p:nvSpPr>
        <p:spPr>
          <a:xfrm>
            <a:off x="8693407" y="4781212"/>
            <a:ext cx="2430946" cy="495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89817" y="0"/>
                </a:lnTo>
                <a:lnTo>
                  <a:pt x="91801" y="949"/>
                </a:lnTo>
                <a:lnTo>
                  <a:pt x="93712" y="3795"/>
                </a:lnTo>
                <a:lnTo>
                  <a:pt x="95471" y="8436"/>
                </a:lnTo>
                <a:lnTo>
                  <a:pt x="97016" y="14641"/>
                </a:lnTo>
                <a:lnTo>
                  <a:pt x="98283" y="22231"/>
                </a:lnTo>
                <a:lnTo>
                  <a:pt x="99225" y="30872"/>
                </a:lnTo>
                <a:lnTo>
                  <a:pt x="99806" y="40256"/>
                </a:lnTo>
                <a:lnTo>
                  <a:pt x="100000" y="50000"/>
                </a:lnTo>
                <a:lnTo>
                  <a:pt x="99806" y="59744"/>
                </a:lnTo>
                <a:lnTo>
                  <a:pt x="99225" y="69128"/>
                </a:lnTo>
                <a:lnTo>
                  <a:pt x="98283" y="77769"/>
                </a:lnTo>
                <a:lnTo>
                  <a:pt x="97016" y="85359"/>
                </a:lnTo>
                <a:lnTo>
                  <a:pt x="95471" y="91564"/>
                </a:lnTo>
                <a:lnTo>
                  <a:pt x="93712" y="96205"/>
                </a:lnTo>
                <a:lnTo>
                  <a:pt x="91801" y="99051"/>
                </a:lnTo>
                <a:lnTo>
                  <a:pt x="89817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D5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91603215085-16"/>
          <p:cNvSpPr/>
          <p:nvPr/>
        </p:nvSpPr>
        <p:spPr>
          <a:xfrm>
            <a:off x="9513096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91603215085-17"/>
          <p:cNvSpPr/>
          <p:nvPr/>
        </p:nvSpPr>
        <p:spPr>
          <a:xfrm>
            <a:off x="9722594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1603215086-18"/>
          <p:cNvSpPr/>
          <p:nvPr/>
        </p:nvSpPr>
        <p:spPr>
          <a:xfrm>
            <a:off x="9932091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91603215086-19"/>
          <p:cNvSpPr/>
          <p:nvPr/>
        </p:nvSpPr>
        <p:spPr>
          <a:xfrm>
            <a:off x="10141589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91603215087-20"/>
          <p:cNvSpPr/>
          <p:nvPr/>
        </p:nvSpPr>
        <p:spPr>
          <a:xfrm>
            <a:off x="10351087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91603215087-21"/>
          <p:cNvSpPr/>
          <p:nvPr/>
        </p:nvSpPr>
        <p:spPr>
          <a:xfrm>
            <a:off x="10560584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91603215087-22"/>
          <p:cNvSpPr/>
          <p:nvPr/>
        </p:nvSpPr>
        <p:spPr>
          <a:xfrm>
            <a:off x="10770082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l-1791603215088-23"/>
          <p:cNvSpPr/>
          <p:nvPr/>
        </p:nvSpPr>
        <p:spPr>
          <a:xfrm>
            <a:off x="10979579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91603215088-24"/>
          <p:cNvSpPr/>
          <p:nvPr/>
        </p:nvSpPr>
        <p:spPr>
          <a:xfrm>
            <a:off x="11189077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91603215089-25"/>
          <p:cNvSpPr/>
          <p:nvPr/>
        </p:nvSpPr>
        <p:spPr>
          <a:xfrm>
            <a:off x="11398575" y="5304956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91603215089-26"/>
          <p:cNvSpPr/>
          <p:nvPr/>
        </p:nvSpPr>
        <p:spPr>
          <a:xfrm>
            <a:off x="9513096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1603215089-27"/>
          <p:cNvSpPr/>
          <p:nvPr/>
        </p:nvSpPr>
        <p:spPr>
          <a:xfrm>
            <a:off x="9722594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91603215090-28"/>
          <p:cNvSpPr/>
          <p:nvPr/>
        </p:nvSpPr>
        <p:spPr>
          <a:xfrm>
            <a:off x="9932091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el-1791603215090-29"/>
          <p:cNvSpPr/>
          <p:nvPr/>
        </p:nvSpPr>
        <p:spPr>
          <a:xfrm>
            <a:off x="10141589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91603215091-30"/>
          <p:cNvSpPr/>
          <p:nvPr/>
        </p:nvSpPr>
        <p:spPr>
          <a:xfrm>
            <a:off x="10351087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91603215092-31"/>
          <p:cNvSpPr/>
          <p:nvPr/>
        </p:nvSpPr>
        <p:spPr>
          <a:xfrm>
            <a:off x="10560584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1603215092-32"/>
          <p:cNvSpPr/>
          <p:nvPr/>
        </p:nvSpPr>
        <p:spPr>
          <a:xfrm>
            <a:off x="10770082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-1791603215093-33"/>
          <p:cNvSpPr/>
          <p:nvPr/>
        </p:nvSpPr>
        <p:spPr>
          <a:xfrm>
            <a:off x="10979579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-1791603215093-34"/>
          <p:cNvSpPr/>
          <p:nvPr/>
        </p:nvSpPr>
        <p:spPr>
          <a:xfrm>
            <a:off x="11189077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-1791603215093-35"/>
          <p:cNvSpPr/>
          <p:nvPr/>
        </p:nvSpPr>
        <p:spPr>
          <a:xfrm>
            <a:off x="11398575" y="5495408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el-1791603215093-36"/>
          <p:cNvSpPr/>
          <p:nvPr/>
        </p:nvSpPr>
        <p:spPr>
          <a:xfrm>
            <a:off x="9513096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91603215094-37"/>
          <p:cNvSpPr/>
          <p:nvPr/>
        </p:nvSpPr>
        <p:spPr>
          <a:xfrm>
            <a:off x="9722594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el-1791603215094-38"/>
          <p:cNvSpPr/>
          <p:nvPr/>
        </p:nvSpPr>
        <p:spPr>
          <a:xfrm>
            <a:off x="9932091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el-1791603215094-39"/>
          <p:cNvSpPr/>
          <p:nvPr/>
        </p:nvSpPr>
        <p:spPr>
          <a:xfrm>
            <a:off x="10141589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l-1791603215095-40"/>
          <p:cNvSpPr/>
          <p:nvPr/>
        </p:nvSpPr>
        <p:spPr>
          <a:xfrm>
            <a:off x="10351087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el-1791603215095-41"/>
          <p:cNvSpPr/>
          <p:nvPr/>
        </p:nvSpPr>
        <p:spPr>
          <a:xfrm>
            <a:off x="10560584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el-1791603215095-42"/>
          <p:cNvSpPr/>
          <p:nvPr/>
        </p:nvSpPr>
        <p:spPr>
          <a:xfrm>
            <a:off x="10770082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el-1791603215096-43"/>
          <p:cNvSpPr/>
          <p:nvPr/>
        </p:nvSpPr>
        <p:spPr>
          <a:xfrm>
            <a:off x="10979579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el-1791603215096-44"/>
          <p:cNvSpPr/>
          <p:nvPr/>
        </p:nvSpPr>
        <p:spPr>
          <a:xfrm>
            <a:off x="11189077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el-1791603215096-45"/>
          <p:cNvSpPr/>
          <p:nvPr/>
        </p:nvSpPr>
        <p:spPr>
          <a:xfrm>
            <a:off x="11398575" y="568586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-1791603215097-46"/>
          <p:cNvSpPr/>
          <p:nvPr/>
        </p:nvSpPr>
        <p:spPr>
          <a:xfrm>
            <a:off x="9513096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el-1791603215097-47"/>
          <p:cNvSpPr/>
          <p:nvPr/>
        </p:nvSpPr>
        <p:spPr>
          <a:xfrm>
            <a:off x="9722594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el-1791603215097-48"/>
          <p:cNvSpPr/>
          <p:nvPr/>
        </p:nvSpPr>
        <p:spPr>
          <a:xfrm>
            <a:off x="9932091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el-1791603215098-49"/>
          <p:cNvSpPr/>
          <p:nvPr/>
        </p:nvSpPr>
        <p:spPr>
          <a:xfrm>
            <a:off x="10141589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el-1791603215098-50"/>
          <p:cNvSpPr/>
          <p:nvPr/>
        </p:nvSpPr>
        <p:spPr>
          <a:xfrm>
            <a:off x="10351087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el-1791603215098-51"/>
          <p:cNvSpPr/>
          <p:nvPr/>
        </p:nvSpPr>
        <p:spPr>
          <a:xfrm>
            <a:off x="10560584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el-1791603215098-52"/>
          <p:cNvSpPr/>
          <p:nvPr/>
        </p:nvSpPr>
        <p:spPr>
          <a:xfrm>
            <a:off x="10770082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el-1791603215099-53"/>
          <p:cNvSpPr/>
          <p:nvPr/>
        </p:nvSpPr>
        <p:spPr>
          <a:xfrm>
            <a:off x="10979579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el-1791603215100-54"/>
          <p:cNvSpPr/>
          <p:nvPr/>
        </p:nvSpPr>
        <p:spPr>
          <a:xfrm>
            <a:off x="11189077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el-1791603215100-55"/>
          <p:cNvSpPr/>
          <p:nvPr/>
        </p:nvSpPr>
        <p:spPr>
          <a:xfrm>
            <a:off x="11398575" y="5876313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el-1791603215100-56"/>
          <p:cNvSpPr/>
          <p:nvPr/>
        </p:nvSpPr>
        <p:spPr>
          <a:xfrm>
            <a:off x="9513096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el-1791603215100-57"/>
          <p:cNvSpPr/>
          <p:nvPr/>
        </p:nvSpPr>
        <p:spPr>
          <a:xfrm>
            <a:off x="9722594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el-1791603215101-58"/>
          <p:cNvSpPr/>
          <p:nvPr/>
        </p:nvSpPr>
        <p:spPr>
          <a:xfrm>
            <a:off x="9932091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el-1791603215101-59"/>
          <p:cNvSpPr/>
          <p:nvPr/>
        </p:nvSpPr>
        <p:spPr>
          <a:xfrm>
            <a:off x="10141589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el-1791603215101-60"/>
          <p:cNvSpPr/>
          <p:nvPr/>
        </p:nvSpPr>
        <p:spPr>
          <a:xfrm>
            <a:off x="10351087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el-1791603215151-61"/>
          <p:cNvSpPr/>
          <p:nvPr/>
        </p:nvSpPr>
        <p:spPr>
          <a:xfrm>
            <a:off x="10560584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el-1791603215152-62"/>
          <p:cNvSpPr/>
          <p:nvPr/>
        </p:nvSpPr>
        <p:spPr>
          <a:xfrm>
            <a:off x="10770082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el-1791603215152-63"/>
          <p:cNvSpPr/>
          <p:nvPr/>
        </p:nvSpPr>
        <p:spPr>
          <a:xfrm>
            <a:off x="10979579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el-1791603215152-64"/>
          <p:cNvSpPr/>
          <p:nvPr/>
        </p:nvSpPr>
        <p:spPr>
          <a:xfrm>
            <a:off x="11189077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el-1791603215153-65"/>
          <p:cNvSpPr/>
          <p:nvPr/>
        </p:nvSpPr>
        <p:spPr>
          <a:xfrm>
            <a:off x="11398575" y="6066765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el-1791603215071-10"/>
          <p:cNvSpPr/>
          <p:nvPr/>
        </p:nvSpPr>
        <p:spPr>
          <a:xfrm>
            <a:off x="11988977" y="5485886"/>
            <a:ext cx="104749" cy="83799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el-1791603215058-1"/>
          <p:cNvSpPr txBox="1"/>
          <p:nvPr/>
        </p:nvSpPr>
        <p:spPr>
          <a:xfrm>
            <a:off x="171407" y="857"/>
            <a:ext cx="133317" cy="68562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vert="eaVert" anchor="ctr"/>
          <a:lstStyle/>
          <a:p>
            <a:pPr algn="ctr">
              <a:lnSpc>
                <a:spcPts val="1068"/>
              </a:lnSpc>
            </a:pPr>
            <a:r>
              <a:rPr b="1" sz="890" spc="900">
                <a:solidFill>
                  <a:srgbClr val="9A9A9A"/>
                </a:solidFill>
                <a:latin typeface="Arial"/>
                <a:ea typeface="Arial"/>
                <a:cs typeface="Arial"/>
              </a:rPr>
              <a:t>MARKETING SIMULATION REPORT</a:t>
            </a:r>
            <a:endParaRPr/>
          </a:p>
        </p:txBody>
      </p:sp>
      <p:sp>
        <p:nvSpPr>
          <p:cNvPr id="63" name="el-1791603215162-67"/>
          <p:cNvSpPr txBox="1"/>
          <p:nvPr/>
        </p:nvSpPr>
        <p:spPr>
          <a:xfrm>
            <a:off x="1428393" y="2676713"/>
            <a:ext cx="4221317" cy="7046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5540" spc="150">
                <a:solidFill>
                  <a:srgbClr val="F25532"/>
                </a:solidFill>
                <a:latin typeface="Arial"/>
                <a:ea typeface="Arial"/>
                <a:cs typeface="Arial"/>
              </a:rPr>
              <a:t>BULUO</a:t>
            </a:r>
            <a:endParaRPr/>
          </a:p>
        </p:txBody>
      </p:sp>
      <p:sp>
        <p:nvSpPr>
          <p:cNvPr id="64" name="el-1791603215162-68"/>
          <p:cNvSpPr txBox="1"/>
          <p:nvPr/>
        </p:nvSpPr>
        <p:spPr>
          <a:xfrm>
            <a:off x="1428393" y="3552794"/>
            <a:ext cx="1392356" cy="352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939" spc="4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菠萝手机</a:t>
            </a:r>
            <a:endParaRPr/>
          </a:p>
        </p:txBody>
      </p:sp>
      <p:sp>
        <p:nvSpPr>
          <p:cNvPr id="65" name="el-1791603215162-69"/>
          <p:cNvSpPr txBox="1"/>
          <p:nvPr/>
        </p:nvSpPr>
        <p:spPr>
          <a:xfrm>
            <a:off x="1428393" y="4076538"/>
            <a:ext cx="3288083" cy="1428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69" spc="225">
                <a:solidFill>
                  <a:srgbClr val="8A6A5C"/>
                </a:solidFill>
                <a:latin typeface="Arial"/>
                <a:ea typeface="Arial"/>
                <a:cs typeface="Arial"/>
              </a:rPr>
              <a:t>SWEETER WITH EVERY USE</a:t>
            </a:r>
            <a:endParaRPr/>
          </a:p>
        </p:txBody>
      </p:sp>
      <p:sp>
        <p:nvSpPr>
          <p:cNvPr id="66" name="el-1791603215161-66"/>
          <p:cNvSpPr txBox="1"/>
          <p:nvPr/>
        </p:nvSpPr>
        <p:spPr>
          <a:xfrm>
            <a:off x="10175513" y="396046"/>
            <a:ext cx="1497313" cy="29520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939" spc="75">
                <a:solidFill>
                  <a:srgbClr val="F25532"/>
                </a:solidFill>
                <a:latin typeface="Arial"/>
                <a:ea typeface="Arial"/>
                <a:cs typeface="Arial"/>
              </a:rPr>
              <a:t>BULUO</a:t>
            </a:r>
            <a:endParaRPr/>
          </a:p>
        </p:txBody>
      </p:sp>
      <p:sp>
        <p:nvSpPr>
          <p:cNvPr id="67" name="el-1791603215059-2"/>
          <p:cNvSpPr txBox="1"/>
          <p:nvPr/>
        </p:nvSpPr>
        <p:spPr>
          <a:xfrm>
            <a:off x="5827843" y="1772064"/>
            <a:ext cx="278928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040" spc="450">
                <a:solidFill>
                  <a:srgbClr val="9A9A9A"/>
                </a:solidFill>
                <a:latin typeface="Arial"/>
                <a:ea typeface="Arial"/>
                <a:cs typeface="Arial"/>
              </a:rPr>
              <a:t>营销之道模拟经营 · 实验报告</a:t>
            </a:r>
            <a:endParaRPr/>
          </a:p>
        </p:txBody>
      </p:sp>
      <p:sp>
        <p:nvSpPr>
          <p:cNvPr id="68" name="el-1791603215060-3"/>
          <p:cNvSpPr txBox="1"/>
          <p:nvPr/>
        </p:nvSpPr>
        <p:spPr>
          <a:xfrm>
            <a:off x="5827843" y="2067266"/>
            <a:ext cx="2761559" cy="828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b="1" sz="449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营销之道</a:t>
            </a:r>
            <a:endParaRPr/>
          </a:p>
        </p:txBody>
      </p:sp>
      <p:sp>
        <p:nvSpPr>
          <p:cNvPr id="69" name="el-1791603215061-4"/>
          <p:cNvSpPr txBox="1"/>
          <p:nvPr/>
        </p:nvSpPr>
        <p:spPr>
          <a:xfrm>
            <a:off x="5827843" y="2810030"/>
            <a:ext cx="5123169" cy="828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b="1" sz="449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模拟经营</a:t>
            </a:r>
            <a:r>
              <a:rPr b="1" sz="4490" spc="15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实验报告</a:t>
            </a:r>
            <a:endParaRPr/>
          </a:p>
        </p:txBody>
      </p:sp>
      <p:sp>
        <p:nvSpPr>
          <p:cNvPr id="70" name="el-1791603215063-5"/>
          <p:cNvSpPr txBox="1"/>
          <p:nvPr/>
        </p:nvSpPr>
        <p:spPr>
          <a:xfrm>
            <a:off x="5827843" y="3733724"/>
            <a:ext cx="5713571" cy="5665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23"/>
              </a:lnSpc>
            </a:pP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菠萝手机，越用越甜。从 120 万起步，到第 6 季度末 837.6 万——六个季度的产品、渠道、定价与财务经营复盘。</a:t>
            </a:r>
            <a:endParaRPr/>
          </a:p>
        </p:txBody>
      </p:sp>
      <p:sp>
        <p:nvSpPr>
          <p:cNvPr id="71" name="el-1791603215079-12"/>
          <p:cNvSpPr txBox="1"/>
          <p:nvPr/>
        </p:nvSpPr>
        <p:spPr>
          <a:xfrm>
            <a:off x="6151612" y="4905006"/>
            <a:ext cx="3100583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134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汇报：第六组 · BULUO公司</a:t>
            </a:r>
            <a:endParaRPr/>
          </a:p>
        </p:txBody>
      </p:sp>
      <p:sp>
        <p:nvSpPr>
          <p:cNvPr id="72" name="el-1791603215081-14"/>
          <p:cNvSpPr txBox="1"/>
          <p:nvPr/>
        </p:nvSpPr>
        <p:spPr>
          <a:xfrm>
            <a:off x="9017176" y="4905006"/>
            <a:ext cx="266596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/>
          <a:lstStyle/>
          <a:p>
            <a:pPr algn="l">
              <a:lnSpc>
                <a:spcPct val="100000"/>
              </a:lnSpc>
            </a:pPr>
            <a:r>
              <a:rPr b="1" sz="134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>2026年9月 · 营销模拟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03215251-10"/>
          <p:cNvCxnSpPr/>
          <p:nvPr/>
        </p:nvCxnSpPr>
        <p:spPr>
          <a:xfrm>
            <a:off x="837990" y="4764547"/>
            <a:ext cx="533267" cy="914"/>
          </a:xfrm>
          <a:prstGeom prst="line">
            <a:avLst/>
          </a:prstGeom>
          <a:ln w="38090" cap="flat">
            <a:solidFill>
              <a:srgbClr val="F255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03215192-6"/>
          <p:cNvCxnSpPr/>
          <p:nvPr/>
        </p:nvCxnSpPr>
        <p:spPr>
          <a:xfrm>
            <a:off x="5523119" y="2413056"/>
            <a:ext cx="5827843" cy="914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03215192-7"/>
          <p:cNvCxnSpPr/>
          <p:nvPr/>
        </p:nvCxnSpPr>
        <p:spPr>
          <a:xfrm>
            <a:off x="5523119" y="3336750"/>
            <a:ext cx="5827843" cy="914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03215192-8"/>
          <p:cNvCxnSpPr/>
          <p:nvPr/>
        </p:nvCxnSpPr>
        <p:spPr>
          <a:xfrm>
            <a:off x="5523119" y="4043209"/>
            <a:ext cx="5827843" cy="914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03215192-9"/>
          <p:cNvCxnSpPr/>
          <p:nvPr/>
        </p:nvCxnSpPr>
        <p:spPr>
          <a:xfrm>
            <a:off x="5523119" y="4749668"/>
            <a:ext cx="5827843" cy="914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91603215188-4"/>
          <p:cNvSpPr txBox="1"/>
          <p:nvPr/>
        </p:nvSpPr>
        <p:spPr>
          <a:xfrm>
            <a:off x="837990" y="1607799"/>
            <a:ext cx="3999500" cy="952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 indent="413813">
              <a:lnSpc>
                <a:spcPts val="3738"/>
              </a:lnSpc>
            </a:pPr>
            <a:r>
              <a:rPr b="1" sz="299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我们做了什么：目标与分工</a:t>
            </a:r>
            <a:endParaRPr/>
          </a:p>
        </p:txBody>
      </p:sp>
      <p:sp>
        <p:nvSpPr>
          <p:cNvPr id="8" name="el-1791603215190-5"/>
          <p:cNvSpPr/>
          <p:nvPr/>
        </p:nvSpPr>
        <p:spPr>
          <a:xfrm rot="2700000">
            <a:off x="837990" y="1818636"/>
            <a:ext cx="171407" cy="171407"/>
          </a:xfrm>
          <a:prstGeom prst="roundRect">
            <a:avLst>
              <a:gd name="adj" fmla="val 11114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91603215254-13"/>
          <p:cNvSpPr txBox="1"/>
          <p:nvPr/>
        </p:nvSpPr>
        <p:spPr>
          <a:xfrm>
            <a:off x="837990" y="2883830"/>
            <a:ext cx="4146148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实验目标</a:t>
            </a:r>
            <a:endParaRPr/>
          </a:p>
        </p:txBody>
      </p:sp>
      <p:sp>
        <p:nvSpPr>
          <p:cNvPr id="10" name="el-1791603215252-11"/>
          <p:cNvSpPr txBox="1"/>
          <p:nvPr/>
        </p:nvSpPr>
        <p:spPr>
          <a:xfrm>
            <a:off x="837990" y="3321871"/>
            <a:ext cx="3999500" cy="10998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870"/>
              </a:lnSpc>
            </a:pPr>
            <a:r>
              <a:rPr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在模拟市场中完成产品设计、渠道布局、定价促销、生产配送和财务结算，最终看谁经营得</a:t>
            </a:r>
            <a:r>
              <a:rPr b="1" sz="1639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更稳、更赚</a:t>
            </a:r>
            <a:r>
              <a:rPr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/>
          </a:p>
        </p:txBody>
      </p:sp>
      <p:sp>
        <p:nvSpPr>
          <p:cNvPr id="11" name="el-1791603215254-12"/>
          <p:cNvSpPr txBox="1"/>
          <p:nvPr/>
        </p:nvSpPr>
        <p:spPr>
          <a:xfrm>
            <a:off x="837990" y="4955000"/>
            <a:ext cx="399950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345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我们不是"拍脑袋"经营，而是每季度看</a:t>
            </a:r>
            <a:r>
              <a:rPr b="1" sz="134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现金</a:t>
            </a: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、看</a:t>
            </a:r>
            <a:r>
              <a:rPr b="1" sz="134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库存</a:t>
            </a: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、看</a:t>
            </a:r>
            <a:r>
              <a:rPr b="1" sz="134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渠道</a:t>
            </a: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，再决定下一步。</a:t>
            </a:r>
            <a:endParaRPr/>
          </a:p>
        </p:txBody>
      </p:sp>
      <p:sp>
        <p:nvSpPr>
          <p:cNvPr id="12" name="el-1791603215255-14"/>
          <p:cNvSpPr txBox="1"/>
          <p:nvPr/>
        </p:nvSpPr>
        <p:spPr>
          <a:xfrm>
            <a:off x="5523119" y="1892287"/>
            <a:ext cx="903506" cy="3350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2390">
                <a:solidFill>
                  <a:srgbClr val="F25532"/>
                </a:solidFill>
                <a:latin typeface="Arial"/>
                <a:ea typeface="Arial"/>
                <a:cs typeface="Arial"/>
              </a:rPr>
              <a:t>01</a:t>
            </a:r>
            <a:endParaRPr/>
          </a:p>
        </p:txBody>
      </p:sp>
      <p:sp>
        <p:nvSpPr>
          <p:cNvPr id="13" name="el-1791603215255-15"/>
          <p:cNvSpPr txBox="1"/>
          <p:nvPr/>
        </p:nvSpPr>
        <p:spPr>
          <a:xfrm>
            <a:off x="6265883" y="1892287"/>
            <a:ext cx="2167729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CEO / 决策统筹</a:t>
            </a:r>
            <a:endParaRPr/>
          </a:p>
        </p:txBody>
      </p:sp>
      <p:sp>
        <p:nvSpPr>
          <p:cNvPr id="14" name="el-1791603215255-16"/>
          <p:cNvSpPr txBox="1"/>
          <p:nvPr/>
        </p:nvSpPr>
        <p:spPr>
          <a:xfrm>
            <a:off x="8132316" y="1930378"/>
            <a:ext cx="251968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负责每季度整体策略和最终决策</a:t>
            </a:r>
            <a:endParaRPr/>
          </a:p>
        </p:txBody>
      </p:sp>
      <p:sp>
        <p:nvSpPr>
          <p:cNvPr id="15" name="el-1791603215255-17"/>
          <p:cNvSpPr txBox="1"/>
          <p:nvPr/>
        </p:nvSpPr>
        <p:spPr>
          <a:xfrm>
            <a:off x="5523119" y="2598747"/>
            <a:ext cx="903506" cy="3350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2390">
                <a:solidFill>
                  <a:srgbClr val="F25532"/>
                </a:solidFill>
                <a:latin typeface="Arial"/>
                <a:ea typeface="Arial"/>
                <a:cs typeface="Arial"/>
              </a:rPr>
              <a:t>02</a:t>
            </a:r>
            <a:endParaRPr/>
          </a:p>
        </p:txBody>
      </p:sp>
      <p:sp>
        <p:nvSpPr>
          <p:cNvPr id="16" name="el-1791603215255-18"/>
          <p:cNvSpPr txBox="1"/>
          <p:nvPr/>
        </p:nvSpPr>
        <p:spPr>
          <a:xfrm>
            <a:off x="6265883" y="2598747"/>
            <a:ext cx="1765494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市场与渠道</a:t>
            </a:r>
            <a:endParaRPr/>
          </a:p>
        </p:txBody>
      </p:sp>
      <p:sp>
        <p:nvSpPr>
          <p:cNvPr id="17" name="el-1791603215255-19"/>
          <p:cNvSpPr txBox="1"/>
          <p:nvPr/>
        </p:nvSpPr>
        <p:spPr>
          <a:xfrm>
            <a:off x="8132316" y="2636837"/>
            <a:ext cx="321864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负责市场开发、互联网 / 专卖店 / 大卖场策略</a:t>
            </a:r>
            <a:endParaRPr/>
          </a:p>
        </p:txBody>
      </p:sp>
      <p:sp>
        <p:nvSpPr>
          <p:cNvPr id="18" name="el-1791603215256-20"/>
          <p:cNvSpPr txBox="1"/>
          <p:nvPr/>
        </p:nvSpPr>
        <p:spPr>
          <a:xfrm>
            <a:off x="5523119" y="3522441"/>
            <a:ext cx="903506" cy="3350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2390">
                <a:solidFill>
                  <a:srgbClr val="F25532"/>
                </a:solidFill>
                <a:latin typeface="Arial"/>
                <a:ea typeface="Arial"/>
                <a:cs typeface="Arial"/>
              </a:rPr>
              <a:t>03</a:t>
            </a:r>
            <a:endParaRPr/>
          </a:p>
        </p:txBody>
      </p:sp>
      <p:sp>
        <p:nvSpPr>
          <p:cNvPr id="19" name="el-1791603215256-21"/>
          <p:cNvSpPr txBox="1"/>
          <p:nvPr/>
        </p:nvSpPr>
        <p:spPr>
          <a:xfrm>
            <a:off x="6265883" y="3522441"/>
            <a:ext cx="1765494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产品与研发</a:t>
            </a:r>
            <a:endParaRPr/>
          </a:p>
        </p:txBody>
      </p:sp>
      <p:sp>
        <p:nvSpPr>
          <p:cNvPr id="20" name="el-1791603215256-22"/>
          <p:cNvSpPr txBox="1"/>
          <p:nvPr/>
        </p:nvSpPr>
        <p:spPr>
          <a:xfrm>
            <a:off x="8132316" y="3560531"/>
            <a:ext cx="2862499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负责产品设计、研发投入和产品组合</a:t>
            </a:r>
            <a:endParaRPr/>
          </a:p>
        </p:txBody>
      </p:sp>
      <p:sp>
        <p:nvSpPr>
          <p:cNvPr id="21" name="el-1791603215256-23"/>
          <p:cNvSpPr txBox="1"/>
          <p:nvPr/>
        </p:nvSpPr>
        <p:spPr>
          <a:xfrm>
            <a:off x="5523119" y="4228900"/>
            <a:ext cx="903506" cy="3350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2390">
                <a:solidFill>
                  <a:srgbClr val="F25532"/>
                </a:solidFill>
                <a:latin typeface="Arial"/>
                <a:ea typeface="Arial"/>
                <a:cs typeface="Arial"/>
              </a:rPr>
              <a:t>04</a:t>
            </a:r>
            <a:endParaRPr/>
          </a:p>
        </p:txBody>
      </p:sp>
      <p:sp>
        <p:nvSpPr>
          <p:cNvPr id="22" name="el-1791603215256-24"/>
          <p:cNvSpPr txBox="1"/>
          <p:nvPr/>
        </p:nvSpPr>
        <p:spPr>
          <a:xfrm>
            <a:off x="6265883" y="4228900"/>
            <a:ext cx="1765494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生产与配送</a:t>
            </a:r>
            <a:endParaRPr/>
          </a:p>
        </p:txBody>
      </p:sp>
      <p:sp>
        <p:nvSpPr>
          <p:cNvPr id="23" name="el-1791603215256-25"/>
          <p:cNvSpPr txBox="1"/>
          <p:nvPr/>
        </p:nvSpPr>
        <p:spPr>
          <a:xfrm>
            <a:off x="8132316" y="4266990"/>
            <a:ext cx="2862499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负责产能购买、原料生产、渠道配送</a:t>
            </a:r>
            <a:endParaRPr/>
          </a:p>
        </p:txBody>
      </p:sp>
      <p:sp>
        <p:nvSpPr>
          <p:cNvPr id="24" name="el-1791603215257-26"/>
          <p:cNvSpPr txBox="1"/>
          <p:nvPr/>
        </p:nvSpPr>
        <p:spPr>
          <a:xfrm>
            <a:off x="5523119" y="4935359"/>
            <a:ext cx="903506" cy="3350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2390">
                <a:solidFill>
                  <a:srgbClr val="F25532"/>
                </a:solidFill>
                <a:latin typeface="Arial"/>
                <a:ea typeface="Arial"/>
                <a:cs typeface="Arial"/>
              </a:rPr>
              <a:t>05</a:t>
            </a:r>
            <a:endParaRPr/>
          </a:p>
        </p:txBody>
      </p:sp>
      <p:sp>
        <p:nvSpPr>
          <p:cNvPr id="25" name="el-1791603215257-27"/>
          <p:cNvSpPr txBox="1"/>
          <p:nvPr/>
        </p:nvSpPr>
        <p:spPr>
          <a:xfrm>
            <a:off x="6265883" y="4935359"/>
            <a:ext cx="1765494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财务与数据</a:t>
            </a:r>
            <a:endParaRPr/>
          </a:p>
        </p:txBody>
      </p:sp>
      <p:sp>
        <p:nvSpPr>
          <p:cNvPr id="26" name="el-1791603215257-28"/>
          <p:cNvSpPr txBox="1"/>
          <p:nvPr/>
        </p:nvSpPr>
        <p:spPr>
          <a:xfrm>
            <a:off x="8132316" y="4973450"/>
            <a:ext cx="3205313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负责借款、贴现、税费、返利和现金跟踪</a:t>
            </a:r>
            <a:endParaRPr/>
          </a:p>
        </p:txBody>
      </p:sp>
      <p:sp>
        <p:nvSpPr>
          <p:cNvPr id="27" name="el-1791603215183-1"/>
          <p:cNvSpPr txBox="1"/>
          <p:nvPr/>
        </p:nvSpPr>
        <p:spPr>
          <a:xfrm>
            <a:off x="837990" y="6523851"/>
            <a:ext cx="5181382" cy="1333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BULUO · GROUP 06 · MARKETING SIMULATION</a:t>
            </a:r>
            <a:endParaRPr/>
          </a:p>
        </p:txBody>
      </p:sp>
      <p:sp>
        <p:nvSpPr>
          <p:cNvPr id="28" name="el-1791603215183-2"/>
          <p:cNvSpPr txBox="1"/>
          <p:nvPr/>
        </p:nvSpPr>
        <p:spPr>
          <a:xfrm>
            <a:off x="10801477" y="6523851"/>
            <a:ext cx="885443" cy="1333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02 / 07</a:t>
            </a:r>
            <a:endParaRPr/>
          </a:p>
        </p:txBody>
      </p:sp>
      <p:sp>
        <p:nvSpPr>
          <p:cNvPr id="29" name="el-1791603215185-3"/>
          <p:cNvSpPr/>
          <p:nvPr/>
        </p:nvSpPr>
        <p:spPr>
          <a:xfrm>
            <a:off x="0" y="857"/>
            <a:ext cx="114271" cy="6094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03220665-7"/>
          <p:cNvCxnSpPr/>
          <p:nvPr/>
        </p:nvCxnSpPr>
        <p:spPr>
          <a:xfrm>
            <a:off x="837990" y="4697591"/>
            <a:ext cx="533267" cy="914"/>
          </a:xfrm>
          <a:prstGeom prst="line">
            <a:avLst/>
          </a:prstGeom>
          <a:ln w="38090" cap="flat">
            <a:solidFill>
              <a:srgbClr val="F255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el-1791603220662-4"/>
          <p:cNvGraphicFramePr>
            <a:graphicFrameLocks noGrp="1"/>
          </p:cNvGraphicFramePr>
          <p:nvPr/>
        </p:nvGraphicFramePr>
        <p:xfrm>
          <a:off x="5256486" y="1229275"/>
          <a:ext cx="6094476" cy="4570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l-1791603220662-5"/>
          <p:cNvSpPr txBox="1"/>
          <p:nvPr/>
        </p:nvSpPr>
        <p:spPr>
          <a:xfrm>
            <a:off x="837990" y="1059951"/>
            <a:ext cx="3809048" cy="857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 indent="413813">
              <a:lnSpc>
                <a:spcPts val="3363"/>
              </a:lnSpc>
            </a:pPr>
            <a:r>
              <a:rPr b="1" sz="269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从120万到837.6万：现金增长轨迹</a:t>
            </a:r>
            <a:endParaRPr/>
          </a:p>
        </p:txBody>
      </p:sp>
      <p:sp>
        <p:nvSpPr>
          <p:cNvPr id="5" name="el-1791603220663-6"/>
          <p:cNvSpPr/>
          <p:nvPr/>
        </p:nvSpPr>
        <p:spPr>
          <a:xfrm rot="2700000">
            <a:off x="837990" y="1242964"/>
            <a:ext cx="171407" cy="171407"/>
          </a:xfrm>
          <a:prstGeom prst="roundRect">
            <a:avLst>
              <a:gd name="adj" fmla="val 11114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el-1791603220669-12"/>
          <p:cNvSpPr txBox="1"/>
          <p:nvPr/>
        </p:nvSpPr>
        <p:spPr>
          <a:xfrm>
            <a:off x="837990" y="2278846"/>
            <a:ext cx="1483987" cy="495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2690">
                <a:solidFill>
                  <a:srgbClr val="7A7A7A"/>
                </a:solidFill>
                <a:latin typeface="Arial"/>
                <a:ea typeface="Arial"/>
                <a:cs typeface="Arial"/>
              </a:rPr>
              <a:t>120万</a:t>
            </a:r>
            <a:endParaRPr/>
          </a:p>
        </p:txBody>
      </p:sp>
      <p:sp>
        <p:nvSpPr>
          <p:cNvPr id="7" name="el-1791603220669-13"/>
          <p:cNvSpPr txBox="1"/>
          <p:nvPr/>
        </p:nvSpPr>
        <p:spPr>
          <a:xfrm>
            <a:off x="1905268" y="2345505"/>
            <a:ext cx="485654" cy="418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224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8" name="el-1791603220669-14"/>
          <p:cNvSpPr txBox="1"/>
          <p:nvPr/>
        </p:nvSpPr>
        <p:spPr>
          <a:xfrm>
            <a:off x="2343308" y="2164575"/>
            <a:ext cx="3536284" cy="609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4790">
                <a:solidFill>
                  <a:srgbClr val="F25532"/>
                </a:solidFill>
                <a:latin typeface="Arial"/>
                <a:ea typeface="Arial"/>
                <a:cs typeface="Arial"/>
              </a:rPr>
              <a:t>837.6万</a:t>
            </a:r>
            <a:endParaRPr/>
          </a:p>
        </p:txBody>
      </p:sp>
      <p:sp>
        <p:nvSpPr>
          <p:cNvPr id="9" name="el-1791603220666-9"/>
          <p:cNvSpPr txBox="1"/>
          <p:nvPr/>
        </p:nvSpPr>
        <p:spPr>
          <a:xfrm>
            <a:off x="837990" y="2869249"/>
            <a:ext cx="4312984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第1季度初 → 第6季度末，增长约 6 倍</a:t>
            </a:r>
            <a:endParaRPr/>
          </a:p>
        </p:txBody>
      </p:sp>
      <p:sp>
        <p:nvSpPr>
          <p:cNvPr id="10" name="el-1791603220666-10"/>
          <p:cNvSpPr txBox="1"/>
          <p:nvPr/>
        </p:nvSpPr>
        <p:spPr>
          <a:xfrm>
            <a:off x="837990" y="3364425"/>
            <a:ext cx="3955696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关键转折</a:t>
            </a:r>
            <a:endParaRPr/>
          </a:p>
        </p:txBody>
      </p:sp>
      <p:sp>
        <p:nvSpPr>
          <p:cNvPr id="11" name="el-1791603220665-8"/>
          <p:cNvSpPr txBox="1"/>
          <p:nvPr/>
        </p:nvSpPr>
        <p:spPr>
          <a:xfrm>
            <a:off x="837990" y="3783420"/>
            <a:ext cx="3809048" cy="6475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533"/>
              </a:lnSpc>
            </a:pPr>
            <a:r>
              <a:rPr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 </a:t>
            </a:r>
            <a:r>
              <a:rPr b="1" sz="149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季度开始，国际市场和互联网渠道放量，现金明显跳升。</a:t>
            </a:r>
            <a:endParaRPr/>
          </a:p>
        </p:txBody>
      </p:sp>
      <p:sp>
        <p:nvSpPr>
          <p:cNvPr id="12" name="el-1791603220666-11"/>
          <p:cNvSpPr txBox="1"/>
          <p:nvPr/>
        </p:nvSpPr>
        <p:spPr>
          <a:xfrm>
            <a:off x="837990" y="4868999"/>
            <a:ext cx="3809048" cy="110045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59"/>
              </a:lnSpc>
            </a:pP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"前三个季度我们其实在打基础，现金一直在 90 到 100 万左右。真正爆发是第 4 季度以后，尤其是国际市场打开之后，现金从 200 多万一路冲到 800 多万。"</a:t>
            </a:r>
            <a:endParaRPr/>
          </a:p>
        </p:txBody>
      </p:sp>
      <p:sp>
        <p:nvSpPr>
          <p:cNvPr id="13" name="el-1791603220659-1"/>
          <p:cNvSpPr txBox="1"/>
          <p:nvPr/>
        </p:nvSpPr>
        <p:spPr>
          <a:xfrm>
            <a:off x="837990" y="6509567"/>
            <a:ext cx="5219526" cy="1618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BULUO · GROUP 06 · DATA: 营销之道模拟经营系统财务结算</a:t>
            </a:r>
            <a:endParaRPr/>
          </a:p>
        </p:txBody>
      </p:sp>
      <p:sp>
        <p:nvSpPr>
          <p:cNvPr id="14" name="el-1791603220659-2"/>
          <p:cNvSpPr txBox="1"/>
          <p:nvPr/>
        </p:nvSpPr>
        <p:spPr>
          <a:xfrm>
            <a:off x="10801477" y="6523851"/>
            <a:ext cx="885443" cy="1333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03 / 07</a:t>
            </a:r>
            <a:endParaRPr/>
          </a:p>
        </p:txBody>
      </p:sp>
      <p:sp>
        <p:nvSpPr>
          <p:cNvPr id="15" name="el-1791603220660-3"/>
          <p:cNvSpPr/>
          <p:nvPr/>
        </p:nvSpPr>
        <p:spPr>
          <a:xfrm>
            <a:off x="0" y="857"/>
            <a:ext cx="114271" cy="6094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03215491-7"/>
          <p:cNvCxnSpPr/>
          <p:nvPr/>
        </p:nvCxnSpPr>
        <p:spPr>
          <a:xfrm>
            <a:off x="6954041" y="4274579"/>
            <a:ext cx="914" cy="1333167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03215492-8"/>
          <p:cNvCxnSpPr/>
          <p:nvPr/>
        </p:nvCxnSpPr>
        <p:spPr>
          <a:xfrm>
            <a:off x="7415888" y="4437505"/>
            <a:ext cx="533267" cy="914"/>
          </a:xfrm>
          <a:prstGeom prst="line">
            <a:avLst/>
          </a:prstGeom>
          <a:ln w="38090" cap="flat">
            <a:solidFill>
              <a:srgbClr val="F2553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91603215487-1"/>
          <p:cNvSpPr txBox="1"/>
          <p:nvPr/>
        </p:nvSpPr>
        <p:spPr>
          <a:xfrm>
            <a:off x="837990" y="1402616"/>
            <a:ext cx="11023383" cy="4761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 indent="413813">
              <a:lnSpc>
                <a:spcPct val="100000"/>
              </a:lnSpc>
            </a:pPr>
            <a:r>
              <a:rPr b="1" sz="299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核心策略一：渠道布局——从互联网到国际市场</a:t>
            </a:r>
            <a:endParaRPr/>
          </a:p>
        </p:txBody>
      </p:sp>
      <p:sp>
        <p:nvSpPr>
          <p:cNvPr id="5" name="el-1791603215488-2"/>
          <p:cNvSpPr/>
          <p:nvPr/>
        </p:nvSpPr>
        <p:spPr>
          <a:xfrm rot="2700000">
            <a:off x="837990" y="1613453"/>
            <a:ext cx="171407" cy="171407"/>
          </a:xfrm>
          <a:prstGeom prst="roundRect">
            <a:avLst>
              <a:gd name="adj" fmla="val 11114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el-1791603215551-11"/>
          <p:cNvSpPr txBox="1"/>
          <p:nvPr/>
        </p:nvSpPr>
        <p:spPr>
          <a:xfrm>
            <a:off x="837990" y="4274579"/>
            <a:ext cx="5621827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340" spc="225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数据支撑</a:t>
            </a:r>
            <a:endParaRPr/>
          </a:p>
        </p:txBody>
      </p:sp>
      <p:sp>
        <p:nvSpPr>
          <p:cNvPr id="7" name="el-1791603215493-9"/>
          <p:cNvSpPr txBox="1"/>
          <p:nvPr/>
        </p:nvSpPr>
        <p:spPr>
          <a:xfrm>
            <a:off x="837990" y="4636438"/>
            <a:ext cx="5501842" cy="9713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533"/>
              </a:lnSpc>
            </a:pPr>
            <a:r>
              <a:rPr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 </a:t>
            </a:r>
            <a:r>
              <a:rPr b="1" sz="149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季度国际市场配送量明显放大，单季出现多笔大额交付——菠萝Phone 1、菠萝Phone 1 Pro 各配送</a:t>
            </a:r>
            <a:r>
              <a:rPr b="1" sz="149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数百件</a:t>
            </a:r>
            <a:r>
              <a:rPr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，带动现金快速上升。</a:t>
            </a:r>
            <a:endParaRPr/>
          </a:p>
        </p:txBody>
      </p:sp>
      <p:sp>
        <p:nvSpPr>
          <p:cNvPr id="8" name="el-1791603215493-10"/>
          <p:cNvSpPr txBox="1"/>
          <p:nvPr/>
        </p:nvSpPr>
        <p:spPr>
          <a:xfrm>
            <a:off x="7415888" y="4589867"/>
            <a:ext cx="3935073" cy="8739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8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"我们不是只守一个渠道。互联网先试水，专卖店做形象，大卖场冲销量，</a:t>
            </a:r>
            <a:r>
              <a:rPr b="1" sz="134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国际市场最后成了我们的现金牛</a:t>
            </a: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。"</a:t>
            </a:r>
            <a:endParaRPr/>
          </a:p>
        </p:txBody>
      </p:sp>
      <p:sp>
        <p:nvSpPr>
          <p:cNvPr id="9" name="el-1791603215488-3"/>
          <p:cNvSpPr txBox="1"/>
          <p:nvPr/>
        </p:nvSpPr>
        <p:spPr>
          <a:xfrm>
            <a:off x="837990" y="6523851"/>
            <a:ext cx="5181382" cy="1333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BULUO · GROUP 06 · MARKETING SIMULATION</a:t>
            </a:r>
            <a:endParaRPr/>
          </a:p>
        </p:txBody>
      </p:sp>
      <p:sp>
        <p:nvSpPr>
          <p:cNvPr id="10" name="el-1791603215488-4"/>
          <p:cNvSpPr txBox="1"/>
          <p:nvPr/>
        </p:nvSpPr>
        <p:spPr>
          <a:xfrm>
            <a:off x="10801477" y="6523851"/>
            <a:ext cx="885443" cy="1333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04 / 07</a:t>
            </a:r>
            <a:endParaRPr/>
          </a:p>
        </p:txBody>
      </p:sp>
      <p:sp>
        <p:nvSpPr>
          <p:cNvPr id="11" name="el-1791603215489-5"/>
          <p:cNvSpPr/>
          <p:nvPr/>
        </p:nvSpPr>
        <p:spPr>
          <a:xfrm>
            <a:off x="0" y="857"/>
            <a:ext cx="114271" cy="6094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2" name="el-1791603215490-6"/>
          <p:cNvCxnSpPr/>
          <p:nvPr/>
        </p:nvCxnSpPr>
        <p:spPr>
          <a:xfrm>
            <a:off x="1123669" y="2354878"/>
            <a:ext cx="9941614" cy="914"/>
          </a:xfrm>
          <a:prstGeom prst="line">
            <a:avLst/>
          </a:prstGeom>
          <a:ln w="19045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91603215562-12"/>
          <p:cNvSpPr txBox="1"/>
          <p:nvPr/>
        </p:nvSpPr>
        <p:spPr>
          <a:xfrm>
            <a:off x="837990" y="2621512"/>
            <a:ext cx="2677379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789">
                <a:solidFill>
                  <a:srgbClr val="F25532"/>
                </a:solidFill>
                <a:latin typeface="Arial"/>
                <a:ea typeface="Arial"/>
                <a:cs typeface="Arial"/>
              </a:rPr>
              <a:t>Q1</a:t>
            </a:r>
            <a:endParaRPr/>
          </a:p>
        </p:txBody>
      </p:sp>
      <p:sp>
        <p:nvSpPr>
          <p:cNvPr id="14" name="el-1791603215562-13"/>
          <p:cNvSpPr txBox="1"/>
          <p:nvPr/>
        </p:nvSpPr>
        <p:spPr>
          <a:xfrm>
            <a:off x="837990" y="2964326"/>
            <a:ext cx="2517780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互联网渠道上线</a:t>
            </a:r>
            <a:endParaRPr/>
          </a:p>
        </p:txBody>
      </p:sp>
      <p:sp>
        <p:nvSpPr>
          <p:cNvPr id="15" name="el-1791603215562-14"/>
          <p:cNvSpPr txBox="1"/>
          <p:nvPr/>
        </p:nvSpPr>
        <p:spPr>
          <a:xfrm>
            <a:off x="837990" y="3364276"/>
            <a:ext cx="237113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4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开设互联网渠道，开始线上销售试水</a:t>
            </a:r>
            <a:endParaRPr/>
          </a:p>
        </p:txBody>
      </p:sp>
      <p:sp>
        <p:nvSpPr>
          <p:cNvPr id="16" name="el-1791603215563-15"/>
          <p:cNvSpPr txBox="1"/>
          <p:nvPr/>
        </p:nvSpPr>
        <p:spPr>
          <a:xfrm>
            <a:off x="3551937" y="2621512"/>
            <a:ext cx="2677379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789">
                <a:solidFill>
                  <a:srgbClr val="F25532"/>
                </a:solidFill>
                <a:latin typeface="Arial"/>
                <a:ea typeface="Arial"/>
                <a:cs typeface="Arial"/>
              </a:rPr>
              <a:t>Q2</a:t>
            </a:r>
            <a:endParaRPr/>
          </a:p>
        </p:txBody>
      </p:sp>
      <p:sp>
        <p:nvSpPr>
          <p:cNvPr id="17" name="el-1791603215563-16"/>
          <p:cNvSpPr txBox="1"/>
          <p:nvPr/>
        </p:nvSpPr>
        <p:spPr>
          <a:xfrm>
            <a:off x="3551937" y="2964326"/>
            <a:ext cx="2517780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专卖店开进线下</a:t>
            </a:r>
            <a:endParaRPr/>
          </a:p>
        </p:txBody>
      </p:sp>
      <p:sp>
        <p:nvSpPr>
          <p:cNvPr id="18" name="el-1791603215563-17"/>
          <p:cNvSpPr txBox="1"/>
          <p:nvPr/>
        </p:nvSpPr>
        <p:spPr>
          <a:xfrm>
            <a:off x="3551937" y="3364276"/>
            <a:ext cx="237113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4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开设专卖店渠道，进入线下零售；继续做市场开发</a:t>
            </a:r>
            <a:endParaRPr/>
          </a:p>
        </p:txBody>
      </p:sp>
      <p:sp>
        <p:nvSpPr>
          <p:cNvPr id="19" name="el-1791603215563-18"/>
          <p:cNvSpPr txBox="1"/>
          <p:nvPr/>
        </p:nvSpPr>
        <p:spPr>
          <a:xfrm>
            <a:off x="6265883" y="2621512"/>
            <a:ext cx="2677379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789">
                <a:solidFill>
                  <a:srgbClr val="F25532"/>
                </a:solidFill>
                <a:latin typeface="Arial"/>
                <a:ea typeface="Arial"/>
                <a:cs typeface="Arial"/>
              </a:rPr>
              <a:t>Q3</a:t>
            </a:r>
            <a:endParaRPr/>
          </a:p>
        </p:txBody>
      </p:sp>
      <p:sp>
        <p:nvSpPr>
          <p:cNvPr id="20" name="el-1791603215563-19"/>
          <p:cNvSpPr txBox="1"/>
          <p:nvPr/>
        </p:nvSpPr>
        <p:spPr>
          <a:xfrm>
            <a:off x="6265883" y="2964326"/>
            <a:ext cx="2517780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国际市场启动</a:t>
            </a:r>
            <a:endParaRPr/>
          </a:p>
        </p:txBody>
      </p:sp>
      <p:sp>
        <p:nvSpPr>
          <p:cNvPr id="21" name="el-1791603215563-20"/>
          <p:cNvSpPr txBox="1"/>
          <p:nvPr/>
        </p:nvSpPr>
        <p:spPr>
          <a:xfrm>
            <a:off x="6265883" y="3364276"/>
            <a:ext cx="237113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4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开发国际市场及东北、西北、西南；开始渠道库存转移</a:t>
            </a:r>
            <a:endParaRPr/>
          </a:p>
        </p:txBody>
      </p:sp>
      <p:sp>
        <p:nvSpPr>
          <p:cNvPr id="22" name="el-1791603215564-21"/>
          <p:cNvSpPr txBox="1"/>
          <p:nvPr/>
        </p:nvSpPr>
        <p:spPr>
          <a:xfrm>
            <a:off x="8979829" y="2621512"/>
            <a:ext cx="2896781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789">
                <a:solidFill>
                  <a:srgbClr val="F25532"/>
                </a:solidFill>
                <a:latin typeface="Arial"/>
                <a:ea typeface="Arial"/>
                <a:cs typeface="Arial"/>
              </a:rPr>
              <a:t>Q4–Q6</a:t>
            </a:r>
            <a:endParaRPr/>
          </a:p>
        </p:txBody>
      </p:sp>
      <p:sp>
        <p:nvSpPr>
          <p:cNvPr id="23" name="el-1791603215564-22"/>
          <p:cNvSpPr txBox="1"/>
          <p:nvPr/>
        </p:nvSpPr>
        <p:spPr>
          <a:xfrm>
            <a:off x="8979829" y="2964326"/>
            <a:ext cx="2517780" cy="304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639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多渠道全面放量</a:t>
            </a:r>
            <a:endParaRPr/>
          </a:p>
        </p:txBody>
      </p:sp>
      <p:sp>
        <p:nvSpPr>
          <p:cNvPr id="24" name="el-1791603215564-23"/>
          <p:cNvSpPr txBox="1"/>
          <p:nvPr/>
        </p:nvSpPr>
        <p:spPr>
          <a:xfrm>
            <a:off x="8979829" y="3364276"/>
            <a:ext cx="237113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4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重点放量国际市场，大卖场、专卖店、互联网多路径铺货</a:t>
            </a:r>
            <a:endParaRPr/>
          </a:p>
        </p:txBody>
      </p:sp>
      <p:sp>
        <p:nvSpPr>
          <p:cNvPr id="25" name="el-1791603215566-24"/>
          <p:cNvSpPr/>
          <p:nvPr/>
        </p:nvSpPr>
        <p:spPr>
          <a:xfrm>
            <a:off x="837990" y="2240607"/>
            <a:ext cx="228543" cy="228543"/>
          </a:xfrm>
          <a:prstGeom prst="ellipse">
            <a:avLst/>
          </a:prstGeom>
          <a:solidFill>
            <a:srgbClr val="FFFFFF"/>
          </a:solidFill>
          <a:ln w="28568" algn="in">
            <a:solidFill>
              <a:srgbClr val="F255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el-1791603215567-25"/>
          <p:cNvSpPr/>
          <p:nvPr/>
        </p:nvSpPr>
        <p:spPr>
          <a:xfrm>
            <a:off x="3551937" y="2240607"/>
            <a:ext cx="228543" cy="228543"/>
          </a:xfrm>
          <a:prstGeom prst="ellipse">
            <a:avLst/>
          </a:prstGeom>
          <a:solidFill>
            <a:srgbClr val="FFFFFF"/>
          </a:solidFill>
          <a:ln w="28568" algn="in">
            <a:solidFill>
              <a:srgbClr val="F255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el-1791603215567-26"/>
          <p:cNvSpPr/>
          <p:nvPr/>
        </p:nvSpPr>
        <p:spPr>
          <a:xfrm>
            <a:off x="6265883" y="2240607"/>
            <a:ext cx="228543" cy="228543"/>
          </a:xfrm>
          <a:prstGeom prst="ellipse">
            <a:avLst/>
          </a:prstGeom>
          <a:solidFill>
            <a:srgbClr val="FFFFFF"/>
          </a:solidFill>
          <a:ln w="28568" algn="in">
            <a:solidFill>
              <a:srgbClr val="F255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el-1791603215568-27"/>
          <p:cNvSpPr/>
          <p:nvPr/>
        </p:nvSpPr>
        <p:spPr>
          <a:xfrm>
            <a:off x="8979829" y="2240607"/>
            <a:ext cx="228543" cy="228543"/>
          </a:xfrm>
          <a:prstGeom prst="ellipse">
            <a:avLst/>
          </a:prstGeom>
          <a:solidFill>
            <a:srgbClr val="F25532"/>
          </a:solidFill>
          <a:ln w="28568" algn="in">
            <a:solidFill>
              <a:srgbClr val="F25532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91603215668-14"/>
          <p:cNvSpPr/>
          <p:nvPr/>
        </p:nvSpPr>
        <p:spPr>
          <a:xfrm rot="2700000">
            <a:off x="837990" y="2363359"/>
            <a:ext cx="95226" cy="95226"/>
          </a:xfrm>
          <a:prstGeom prst="roundRect">
            <a:avLst>
              <a:gd name="adj" fmla="val 10003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el-1791603215668-15"/>
          <p:cNvSpPr/>
          <p:nvPr/>
        </p:nvSpPr>
        <p:spPr>
          <a:xfrm rot="2700000">
            <a:off x="837990" y="3595348"/>
            <a:ext cx="95226" cy="95226"/>
          </a:xfrm>
          <a:prstGeom prst="roundRect">
            <a:avLst>
              <a:gd name="adj" fmla="val 10003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l-1791603215669-16"/>
          <p:cNvSpPr/>
          <p:nvPr/>
        </p:nvSpPr>
        <p:spPr>
          <a:xfrm rot="2700000">
            <a:off x="837990" y="4827337"/>
            <a:ext cx="95226" cy="95226"/>
          </a:xfrm>
          <a:prstGeom prst="roundRect">
            <a:avLst>
              <a:gd name="adj" fmla="val 10003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Chart el-1791603215608-4"/>
          <p:cNvGraphicFramePr>
            <a:graphicFrameLocks noGrp="1"/>
          </p:cNvGraphicFramePr>
          <p:nvPr/>
        </p:nvGraphicFramePr>
        <p:xfrm>
          <a:off x="5599300" y="1115004"/>
          <a:ext cx="5618345" cy="4475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el-1791603215652-5"/>
          <p:cNvSpPr txBox="1"/>
          <p:nvPr/>
        </p:nvSpPr>
        <p:spPr>
          <a:xfrm>
            <a:off x="837990" y="1049238"/>
            <a:ext cx="4189952" cy="857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 indent="413813">
              <a:lnSpc>
                <a:spcPts val="3363"/>
              </a:lnSpc>
            </a:pPr>
            <a:r>
              <a:rPr b="1" sz="269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核心策略二：产品与定价</a:t>
            </a:r>
            <a:endParaRPr/>
          </a:p>
        </p:txBody>
      </p:sp>
      <p:sp>
        <p:nvSpPr>
          <p:cNvPr id="7" name="el-1791603215654-6"/>
          <p:cNvSpPr/>
          <p:nvPr/>
        </p:nvSpPr>
        <p:spPr>
          <a:xfrm rot="2700000">
            <a:off x="837990" y="1232251"/>
            <a:ext cx="171407" cy="171407"/>
          </a:xfrm>
          <a:prstGeom prst="roundRect">
            <a:avLst>
              <a:gd name="adj" fmla="val 11114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91603215665-11"/>
          <p:cNvSpPr txBox="1"/>
          <p:nvPr/>
        </p:nvSpPr>
        <p:spPr>
          <a:xfrm>
            <a:off x="1047488" y="2268133"/>
            <a:ext cx="233018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57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产品设计：多产品组合</a:t>
            </a:r>
            <a:endParaRPr/>
          </a:p>
        </p:txBody>
      </p:sp>
      <p:sp>
        <p:nvSpPr>
          <p:cNvPr id="9" name="el-1791603215659-8"/>
          <p:cNvSpPr txBox="1"/>
          <p:nvPr/>
        </p:nvSpPr>
        <p:spPr>
          <a:xfrm>
            <a:off x="837990" y="2649038"/>
            <a:ext cx="4189952" cy="5654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11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先后设计菠萝Phone 1、Phone 1 Pro、Note 6、Note 7、Max 7 等</a:t>
            </a:r>
            <a:r>
              <a:rPr b="1" sz="134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多款产品</a:t>
            </a: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，覆盖不同消费群体。</a:t>
            </a:r>
            <a:endParaRPr/>
          </a:p>
        </p:txBody>
      </p:sp>
      <p:sp>
        <p:nvSpPr>
          <p:cNvPr id="10" name="el-1791603215666-12"/>
          <p:cNvSpPr txBox="1"/>
          <p:nvPr/>
        </p:nvSpPr>
        <p:spPr>
          <a:xfrm>
            <a:off x="1047488" y="3500122"/>
            <a:ext cx="276822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57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定价策略：价格跟着市场走</a:t>
            </a:r>
            <a:endParaRPr/>
          </a:p>
        </p:txBody>
      </p:sp>
      <p:sp>
        <p:nvSpPr>
          <p:cNvPr id="11" name="el-1791603215660-9"/>
          <p:cNvSpPr txBox="1"/>
          <p:nvPr/>
        </p:nvSpPr>
        <p:spPr>
          <a:xfrm>
            <a:off x="837990" y="3881027"/>
            <a:ext cx="4189952" cy="5654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11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互联网渠道定价从 </a:t>
            </a:r>
            <a:r>
              <a:rPr b="1" sz="134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719 元</a:t>
            </a: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逐步调整到 720、730、880、</a:t>
            </a:r>
            <a:r>
              <a:rPr b="1" sz="134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930 元</a:t>
            </a: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；专卖店和大卖场也随行就市。</a:t>
            </a:r>
            <a:endParaRPr/>
          </a:p>
        </p:txBody>
      </p:sp>
      <p:sp>
        <p:nvSpPr>
          <p:cNvPr id="12" name="el-1791603215666-13"/>
          <p:cNvSpPr txBox="1"/>
          <p:nvPr/>
        </p:nvSpPr>
        <p:spPr>
          <a:xfrm>
            <a:off x="1047488" y="4732111"/>
            <a:ext cx="25492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57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促销与返利：给渠道让利</a:t>
            </a:r>
            <a:endParaRPr/>
          </a:p>
        </p:txBody>
      </p:sp>
      <p:sp>
        <p:nvSpPr>
          <p:cNvPr id="13" name="el-1791603215661-10"/>
          <p:cNvSpPr txBox="1"/>
          <p:nvPr/>
        </p:nvSpPr>
        <p:spPr>
          <a:xfrm>
            <a:off x="837990" y="5113016"/>
            <a:ext cx="4189952" cy="8481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11"/>
              </a:lnSpc>
            </a:pP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对经销商和大卖场设置返利：Phone 1 返利 </a:t>
            </a:r>
            <a:r>
              <a:rPr b="1" sz="134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0.01%</a:t>
            </a: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，Note 系列返利 </a:t>
            </a:r>
            <a:r>
              <a:rPr b="1" sz="134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10%–12%</a:t>
            </a:r>
            <a:r>
              <a:rPr sz="134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，刺激渠道推货。Q6 末华东 1 号经销商多笔返利兑现，返利确实拉动了销量。</a:t>
            </a:r>
            <a:endParaRPr/>
          </a:p>
        </p:txBody>
      </p:sp>
      <p:sp>
        <p:nvSpPr>
          <p:cNvPr id="14" name="el-1791603215655-7"/>
          <p:cNvSpPr txBox="1"/>
          <p:nvPr/>
        </p:nvSpPr>
        <p:spPr>
          <a:xfrm>
            <a:off x="5005088" y="5666815"/>
            <a:ext cx="634587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菠萝Phone 1 · 互联网渠道定价变化（元）</a:t>
            </a:r>
            <a:endParaRPr/>
          </a:p>
        </p:txBody>
      </p:sp>
      <p:sp>
        <p:nvSpPr>
          <p:cNvPr id="15" name="el-1791603215601-1"/>
          <p:cNvSpPr txBox="1"/>
          <p:nvPr/>
        </p:nvSpPr>
        <p:spPr>
          <a:xfrm>
            <a:off x="837990" y="6509567"/>
            <a:ext cx="5219526" cy="1618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BULUO · GROUP 06 · DATA: 营销之道模拟经营系统渠道订单</a:t>
            </a:r>
            <a:endParaRPr/>
          </a:p>
        </p:txBody>
      </p:sp>
      <p:sp>
        <p:nvSpPr>
          <p:cNvPr id="16" name="el-1791603215601-2"/>
          <p:cNvSpPr txBox="1"/>
          <p:nvPr/>
        </p:nvSpPr>
        <p:spPr>
          <a:xfrm>
            <a:off x="10801477" y="6523851"/>
            <a:ext cx="885443" cy="1333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05 / 07</a:t>
            </a:r>
            <a:endParaRPr/>
          </a:p>
        </p:txBody>
      </p:sp>
      <p:sp>
        <p:nvSpPr>
          <p:cNvPr id="17" name="el-1791603215602-3"/>
          <p:cNvSpPr/>
          <p:nvPr/>
        </p:nvSpPr>
        <p:spPr>
          <a:xfrm>
            <a:off x="0" y="857"/>
            <a:ext cx="114271" cy="6094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03221272-9"/>
          <p:cNvCxnSpPr/>
          <p:nvPr/>
        </p:nvCxnSpPr>
        <p:spPr>
          <a:xfrm>
            <a:off x="837990" y="2181091"/>
            <a:ext cx="4380405" cy="914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03221272-10"/>
          <p:cNvCxnSpPr/>
          <p:nvPr/>
        </p:nvCxnSpPr>
        <p:spPr>
          <a:xfrm>
            <a:off x="837990" y="2958969"/>
            <a:ext cx="4380405" cy="914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03221272-11"/>
          <p:cNvCxnSpPr/>
          <p:nvPr/>
        </p:nvCxnSpPr>
        <p:spPr>
          <a:xfrm>
            <a:off x="837990" y="3987710"/>
            <a:ext cx="4380405" cy="914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03221273-12"/>
          <p:cNvCxnSpPr/>
          <p:nvPr/>
        </p:nvCxnSpPr>
        <p:spPr>
          <a:xfrm>
            <a:off x="837990" y="4765589"/>
            <a:ext cx="4380405" cy="914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1603221272-8"/>
          <p:cNvSpPr/>
          <p:nvPr/>
        </p:nvSpPr>
        <p:spPr>
          <a:xfrm>
            <a:off x="837990" y="4941757"/>
            <a:ext cx="4380405" cy="11462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BE9E2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Chart el-1791603221269-4"/>
          <p:cNvGraphicFramePr>
            <a:graphicFrameLocks noGrp="1"/>
          </p:cNvGraphicFramePr>
          <p:nvPr/>
        </p:nvGraphicFramePr>
        <p:xfrm>
          <a:off x="5789752" y="1257843"/>
          <a:ext cx="5332667" cy="4189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el-1791603221269-5"/>
          <p:cNvSpPr txBox="1"/>
          <p:nvPr/>
        </p:nvSpPr>
        <p:spPr>
          <a:xfrm>
            <a:off x="837990" y="922319"/>
            <a:ext cx="4620375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 indent="413813">
              <a:lnSpc>
                <a:spcPct val="100000"/>
              </a:lnSpc>
            </a:pPr>
            <a:r>
              <a:rPr b="1" sz="269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会赚钱，也要会管钱</a:t>
            </a:r>
            <a:endParaRPr/>
          </a:p>
        </p:txBody>
      </p:sp>
      <p:sp>
        <p:nvSpPr>
          <p:cNvPr id="9" name="el-1791603221271-6"/>
          <p:cNvSpPr/>
          <p:nvPr/>
        </p:nvSpPr>
        <p:spPr>
          <a:xfrm rot="2700000">
            <a:off x="837990" y="1105332"/>
            <a:ext cx="171407" cy="171407"/>
          </a:xfrm>
          <a:prstGeom prst="roundRect">
            <a:avLst>
              <a:gd name="adj" fmla="val 11114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1603221274-13"/>
          <p:cNvSpPr txBox="1"/>
          <p:nvPr/>
        </p:nvSpPr>
        <p:spPr>
          <a:xfrm>
            <a:off x="837990" y="1541290"/>
            <a:ext cx="1256986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银行</a:t>
            </a:r>
            <a:r>
              <a:rPr b="1" sz="149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借款</a:t>
            </a:r>
            <a:endParaRPr/>
          </a:p>
        </p:txBody>
      </p:sp>
      <p:sp>
        <p:nvSpPr>
          <p:cNvPr id="11" name="el-1791603221275-14"/>
          <p:cNvSpPr txBox="1"/>
          <p:nvPr/>
        </p:nvSpPr>
        <p:spPr>
          <a:xfrm>
            <a:off x="2152112" y="1541290"/>
            <a:ext cx="3066283" cy="5017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68"/>
              </a:lnSpc>
            </a:pP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Q1–Q6 每季度申请短期借款，每笔 </a:t>
            </a:r>
            <a:r>
              <a:rPr b="1" sz="127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10 万</a:t>
            </a: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，利率 5%，实际到账 9.5 万</a:t>
            </a:r>
            <a:endParaRPr/>
          </a:p>
        </p:txBody>
      </p:sp>
      <p:sp>
        <p:nvSpPr>
          <p:cNvPr id="12" name="el-1791603221276-15"/>
          <p:cNvSpPr txBox="1"/>
          <p:nvPr/>
        </p:nvSpPr>
        <p:spPr>
          <a:xfrm>
            <a:off x="837990" y="2319169"/>
            <a:ext cx="1256986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票据</a:t>
            </a:r>
            <a:r>
              <a:rPr b="1" sz="149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贴现</a:t>
            </a:r>
            <a:endParaRPr/>
          </a:p>
        </p:txBody>
      </p:sp>
      <p:sp>
        <p:nvSpPr>
          <p:cNvPr id="13" name="el-1791603221276-16"/>
          <p:cNvSpPr txBox="1"/>
          <p:nvPr/>
        </p:nvSpPr>
        <p:spPr>
          <a:xfrm>
            <a:off x="2152112" y="2319169"/>
            <a:ext cx="3066283" cy="5017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68"/>
              </a:lnSpc>
            </a:pP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Q3–Q6 大量贴现，Q6 贴现率 </a:t>
            </a:r>
            <a:r>
              <a:rPr b="1" sz="127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2%–4%</a:t>
            </a: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，加速现金回笼</a:t>
            </a:r>
            <a:endParaRPr/>
          </a:p>
        </p:txBody>
      </p:sp>
      <p:sp>
        <p:nvSpPr>
          <p:cNvPr id="14" name="el-1791603221277-17"/>
          <p:cNvSpPr txBox="1"/>
          <p:nvPr/>
        </p:nvSpPr>
        <p:spPr>
          <a:xfrm>
            <a:off x="837990" y="3097047"/>
            <a:ext cx="1256986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税费</a:t>
            </a:r>
            <a:r>
              <a:rPr b="1" sz="149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上缴</a:t>
            </a:r>
            <a:endParaRPr/>
          </a:p>
        </p:txBody>
      </p:sp>
      <p:sp>
        <p:nvSpPr>
          <p:cNvPr id="15" name="el-1791603221277-18"/>
          <p:cNvSpPr txBox="1"/>
          <p:nvPr/>
        </p:nvSpPr>
        <p:spPr>
          <a:xfrm>
            <a:off x="2152112" y="3097047"/>
            <a:ext cx="3066283" cy="7525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68"/>
              </a:lnSpc>
            </a:pP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Q6 上缴增值税 </a:t>
            </a:r>
            <a:r>
              <a:rPr b="1" sz="127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49.6 万</a:t>
            </a: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，城建税、教育附加、所得税合计约 </a:t>
            </a:r>
            <a:r>
              <a:rPr b="1" sz="127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70.2 万</a:t>
            </a: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——已进入盈利期</a:t>
            </a:r>
            <a:endParaRPr/>
          </a:p>
        </p:txBody>
      </p:sp>
      <p:sp>
        <p:nvSpPr>
          <p:cNvPr id="16" name="el-1791603221278-19"/>
          <p:cNvSpPr txBox="1"/>
          <p:nvPr/>
        </p:nvSpPr>
        <p:spPr>
          <a:xfrm>
            <a:off x="837990" y="4125788"/>
            <a:ext cx="1256986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返利</a:t>
            </a:r>
            <a:r>
              <a:rPr b="1" sz="149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支付</a:t>
            </a:r>
            <a:endParaRPr/>
          </a:p>
        </p:txBody>
      </p:sp>
      <p:sp>
        <p:nvSpPr>
          <p:cNvPr id="17" name="el-1791603221279-20"/>
          <p:cNvSpPr txBox="1"/>
          <p:nvPr/>
        </p:nvSpPr>
        <p:spPr>
          <a:xfrm>
            <a:off x="2152112" y="4125788"/>
            <a:ext cx="3066283" cy="5017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68"/>
              </a:lnSpc>
            </a:pPr>
            <a:r>
              <a:rPr sz="127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Q6 支付大量渠道返利，虽减少现金，但换来渠道持续进货</a:t>
            </a:r>
            <a:endParaRPr/>
          </a:p>
        </p:txBody>
      </p:sp>
      <p:sp>
        <p:nvSpPr>
          <p:cNvPr id="18" name="el-1791603221280-22"/>
          <p:cNvSpPr txBox="1"/>
          <p:nvPr/>
        </p:nvSpPr>
        <p:spPr>
          <a:xfrm>
            <a:off x="1028443" y="5094119"/>
            <a:ext cx="4119485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340" spc="15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风险点</a:t>
            </a:r>
            <a:endParaRPr/>
          </a:p>
        </p:txBody>
      </p:sp>
      <p:sp>
        <p:nvSpPr>
          <p:cNvPr id="19" name="el-1791603221280-21"/>
          <p:cNvSpPr txBox="1"/>
          <p:nvPr/>
        </p:nvSpPr>
        <p:spPr>
          <a:xfrm>
            <a:off x="1028443" y="5417888"/>
            <a:ext cx="3999500" cy="5177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32"/>
              </a:lnSpc>
            </a:pPr>
            <a:r>
              <a:rPr sz="127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Q1 末现金降到 </a:t>
            </a:r>
            <a:r>
              <a:rPr b="1" sz="127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87.47 万</a:t>
            </a:r>
            <a:r>
              <a:rPr sz="127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，说明前期投入大；Q4 后现金充裕，抗风险能力明显增强。</a:t>
            </a:r>
            <a:endParaRPr/>
          </a:p>
        </p:txBody>
      </p:sp>
      <p:sp>
        <p:nvSpPr>
          <p:cNvPr id="20" name="el-1791603221271-7"/>
          <p:cNvSpPr txBox="1"/>
          <p:nvPr/>
        </p:nvSpPr>
        <p:spPr>
          <a:xfrm>
            <a:off x="5585587" y="5523976"/>
            <a:ext cx="57653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各季度末现金余额（万元）· 橙色为季度最低点</a:t>
            </a:r>
            <a:endParaRPr/>
          </a:p>
        </p:txBody>
      </p:sp>
      <p:sp>
        <p:nvSpPr>
          <p:cNvPr id="21" name="el-1791603221264-1"/>
          <p:cNvSpPr txBox="1"/>
          <p:nvPr/>
        </p:nvSpPr>
        <p:spPr>
          <a:xfrm>
            <a:off x="837990" y="6509567"/>
            <a:ext cx="5219526" cy="1618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BULUO · GROUP 06 · DATA: 营销之道模拟经营系统财务结算</a:t>
            </a:r>
            <a:endParaRPr/>
          </a:p>
        </p:txBody>
      </p:sp>
      <p:sp>
        <p:nvSpPr>
          <p:cNvPr id="22" name="el-1791603221265-2"/>
          <p:cNvSpPr txBox="1"/>
          <p:nvPr/>
        </p:nvSpPr>
        <p:spPr>
          <a:xfrm>
            <a:off x="10801477" y="6523851"/>
            <a:ext cx="885443" cy="1333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06 / 07</a:t>
            </a:r>
            <a:endParaRPr/>
          </a:p>
        </p:txBody>
      </p:sp>
      <p:sp>
        <p:nvSpPr>
          <p:cNvPr id="23" name="el-1791603221266-3"/>
          <p:cNvSpPr/>
          <p:nvPr/>
        </p:nvSpPr>
        <p:spPr>
          <a:xfrm>
            <a:off x="0" y="857"/>
            <a:ext cx="114271" cy="6094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03215987-6"/>
          <p:cNvCxnSpPr/>
          <p:nvPr/>
        </p:nvCxnSpPr>
        <p:spPr>
          <a:xfrm>
            <a:off x="6099237" y="2164426"/>
            <a:ext cx="914" cy="1043619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03215987-7"/>
          <p:cNvCxnSpPr/>
          <p:nvPr/>
        </p:nvCxnSpPr>
        <p:spPr>
          <a:xfrm>
            <a:off x="837990" y="3593712"/>
            <a:ext cx="10512971" cy="914"/>
          </a:xfrm>
          <a:prstGeom prst="line">
            <a:avLst/>
          </a:prstGeom>
          <a:ln w="9523" cap="flat">
            <a:solidFill>
              <a:srgbClr val="E0D5C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91603215999-17"/>
          <p:cNvSpPr/>
          <p:nvPr/>
        </p:nvSpPr>
        <p:spPr>
          <a:xfrm>
            <a:off x="8522744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l-1791603216000-18"/>
          <p:cNvSpPr/>
          <p:nvPr/>
        </p:nvSpPr>
        <p:spPr>
          <a:xfrm>
            <a:off x="8732241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el-1791603216002-19"/>
          <p:cNvSpPr/>
          <p:nvPr/>
        </p:nvSpPr>
        <p:spPr>
          <a:xfrm>
            <a:off x="8941739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l-1791603216002-20"/>
          <p:cNvSpPr/>
          <p:nvPr/>
        </p:nvSpPr>
        <p:spPr>
          <a:xfrm>
            <a:off x="9151237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-1791603216003-21"/>
          <p:cNvSpPr/>
          <p:nvPr/>
        </p:nvSpPr>
        <p:spPr>
          <a:xfrm>
            <a:off x="9360734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el-1791603216003-22"/>
          <p:cNvSpPr/>
          <p:nvPr/>
        </p:nvSpPr>
        <p:spPr>
          <a:xfrm>
            <a:off x="9570232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el-1791603216004-23"/>
          <p:cNvSpPr/>
          <p:nvPr/>
        </p:nvSpPr>
        <p:spPr>
          <a:xfrm>
            <a:off x="9779729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el-1791603216004-24"/>
          <p:cNvSpPr/>
          <p:nvPr/>
        </p:nvSpPr>
        <p:spPr>
          <a:xfrm>
            <a:off x="9989227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el-1791603216004-25"/>
          <p:cNvSpPr/>
          <p:nvPr/>
        </p:nvSpPr>
        <p:spPr>
          <a:xfrm>
            <a:off x="10198725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l-1791603216005-26"/>
          <p:cNvSpPr/>
          <p:nvPr/>
        </p:nvSpPr>
        <p:spPr>
          <a:xfrm>
            <a:off x="10408222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el-1791603216005-27"/>
          <p:cNvSpPr/>
          <p:nvPr/>
        </p:nvSpPr>
        <p:spPr>
          <a:xfrm>
            <a:off x="10617720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el-1791603216005-28"/>
          <p:cNvSpPr/>
          <p:nvPr/>
        </p:nvSpPr>
        <p:spPr>
          <a:xfrm>
            <a:off x="10827218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el-1791603216006-29"/>
          <p:cNvSpPr/>
          <p:nvPr/>
        </p:nvSpPr>
        <p:spPr>
          <a:xfrm>
            <a:off x="11036715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-1791603216006-30"/>
          <p:cNvSpPr/>
          <p:nvPr/>
        </p:nvSpPr>
        <p:spPr>
          <a:xfrm>
            <a:off x="11246213" y="5103047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l-1791603216006-31"/>
          <p:cNvSpPr/>
          <p:nvPr/>
        </p:nvSpPr>
        <p:spPr>
          <a:xfrm>
            <a:off x="8522744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-1791603216006-32"/>
          <p:cNvSpPr/>
          <p:nvPr/>
        </p:nvSpPr>
        <p:spPr>
          <a:xfrm>
            <a:off x="8732241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-1791603216007-33"/>
          <p:cNvSpPr/>
          <p:nvPr/>
        </p:nvSpPr>
        <p:spPr>
          <a:xfrm>
            <a:off x="8941739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el-1791603216007-34"/>
          <p:cNvSpPr/>
          <p:nvPr/>
        </p:nvSpPr>
        <p:spPr>
          <a:xfrm>
            <a:off x="9151237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el-1791603216007-35"/>
          <p:cNvSpPr/>
          <p:nvPr/>
        </p:nvSpPr>
        <p:spPr>
          <a:xfrm>
            <a:off x="9360734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el-1791603216008-36"/>
          <p:cNvSpPr/>
          <p:nvPr/>
        </p:nvSpPr>
        <p:spPr>
          <a:xfrm>
            <a:off x="9570232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el-1791603216008-37"/>
          <p:cNvSpPr/>
          <p:nvPr/>
        </p:nvSpPr>
        <p:spPr>
          <a:xfrm>
            <a:off x="9779729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el-1791603216008-38"/>
          <p:cNvSpPr/>
          <p:nvPr/>
        </p:nvSpPr>
        <p:spPr>
          <a:xfrm>
            <a:off x="9989227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-1791603216009-39"/>
          <p:cNvSpPr/>
          <p:nvPr/>
        </p:nvSpPr>
        <p:spPr>
          <a:xfrm>
            <a:off x="10198725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-1791603216009-40"/>
          <p:cNvSpPr/>
          <p:nvPr/>
        </p:nvSpPr>
        <p:spPr>
          <a:xfrm>
            <a:off x="10408222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el-1791603216010-41"/>
          <p:cNvSpPr/>
          <p:nvPr/>
        </p:nvSpPr>
        <p:spPr>
          <a:xfrm>
            <a:off x="10617720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el-1791603216010-42"/>
          <p:cNvSpPr/>
          <p:nvPr/>
        </p:nvSpPr>
        <p:spPr>
          <a:xfrm>
            <a:off x="10827218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-1791603216010-43"/>
          <p:cNvSpPr/>
          <p:nvPr/>
        </p:nvSpPr>
        <p:spPr>
          <a:xfrm>
            <a:off x="11036715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el-1791603216011-44"/>
          <p:cNvSpPr/>
          <p:nvPr/>
        </p:nvSpPr>
        <p:spPr>
          <a:xfrm>
            <a:off x="11246213" y="5293499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el-1791603216011-45"/>
          <p:cNvSpPr/>
          <p:nvPr/>
        </p:nvSpPr>
        <p:spPr>
          <a:xfrm>
            <a:off x="8522744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el-1791603216011-46"/>
          <p:cNvSpPr/>
          <p:nvPr/>
        </p:nvSpPr>
        <p:spPr>
          <a:xfrm>
            <a:off x="8732241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el-1791603216012-47"/>
          <p:cNvSpPr/>
          <p:nvPr/>
        </p:nvSpPr>
        <p:spPr>
          <a:xfrm>
            <a:off x="8941739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l-1791603216012-48"/>
          <p:cNvSpPr/>
          <p:nvPr/>
        </p:nvSpPr>
        <p:spPr>
          <a:xfrm>
            <a:off x="9151237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el-1791603216012-49"/>
          <p:cNvSpPr/>
          <p:nvPr/>
        </p:nvSpPr>
        <p:spPr>
          <a:xfrm>
            <a:off x="9360734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el-1791603216013-50"/>
          <p:cNvSpPr/>
          <p:nvPr/>
        </p:nvSpPr>
        <p:spPr>
          <a:xfrm>
            <a:off x="9570232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el-1791603216013-51"/>
          <p:cNvSpPr/>
          <p:nvPr/>
        </p:nvSpPr>
        <p:spPr>
          <a:xfrm>
            <a:off x="9779729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el-1791603216013-52"/>
          <p:cNvSpPr/>
          <p:nvPr/>
        </p:nvSpPr>
        <p:spPr>
          <a:xfrm>
            <a:off x="9989227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el-1791603216014-53"/>
          <p:cNvSpPr/>
          <p:nvPr/>
        </p:nvSpPr>
        <p:spPr>
          <a:xfrm>
            <a:off x="10198725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-1791603216014-54"/>
          <p:cNvSpPr/>
          <p:nvPr/>
        </p:nvSpPr>
        <p:spPr>
          <a:xfrm>
            <a:off x="10408222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el-1791603216016-55"/>
          <p:cNvSpPr/>
          <p:nvPr/>
        </p:nvSpPr>
        <p:spPr>
          <a:xfrm>
            <a:off x="10617720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el-1791603216016-56"/>
          <p:cNvSpPr/>
          <p:nvPr/>
        </p:nvSpPr>
        <p:spPr>
          <a:xfrm>
            <a:off x="10827218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el-1791603216017-57"/>
          <p:cNvSpPr/>
          <p:nvPr/>
        </p:nvSpPr>
        <p:spPr>
          <a:xfrm>
            <a:off x="11036715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el-1791603216017-58"/>
          <p:cNvSpPr/>
          <p:nvPr/>
        </p:nvSpPr>
        <p:spPr>
          <a:xfrm>
            <a:off x="11246213" y="5483951"/>
            <a:ext cx="57136" cy="57136"/>
          </a:xfrm>
          <a:prstGeom prst="ellipse">
            <a:avLst/>
          </a:prstGeom>
          <a:solidFill>
            <a:srgbClr val="E0CF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el-1791603215984-1"/>
          <p:cNvSpPr txBox="1"/>
          <p:nvPr/>
        </p:nvSpPr>
        <p:spPr>
          <a:xfrm>
            <a:off x="837990" y="1497843"/>
            <a:ext cx="10779604" cy="4761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 indent="413813">
              <a:lnSpc>
                <a:spcPct val="100000"/>
              </a:lnSpc>
            </a:pPr>
            <a:r>
              <a:rPr b="1" sz="2990" spc="1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我们的收获与不足</a:t>
            </a:r>
            <a:endParaRPr/>
          </a:p>
        </p:txBody>
      </p:sp>
      <p:sp>
        <p:nvSpPr>
          <p:cNvPr id="47" name="el-1791603215985-2"/>
          <p:cNvSpPr/>
          <p:nvPr/>
        </p:nvSpPr>
        <p:spPr>
          <a:xfrm rot="2700000">
            <a:off x="837990" y="1708679"/>
            <a:ext cx="171407" cy="171407"/>
          </a:xfrm>
          <a:prstGeom prst="roundRect">
            <a:avLst>
              <a:gd name="adj" fmla="val 11114"/>
            </a:avLst>
          </a:pr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el-1791603215991-10"/>
          <p:cNvSpPr txBox="1"/>
          <p:nvPr/>
        </p:nvSpPr>
        <p:spPr>
          <a:xfrm>
            <a:off x="837990" y="2164426"/>
            <a:ext cx="4856536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490" spc="225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做对的事</a:t>
            </a:r>
            <a:endParaRPr/>
          </a:p>
        </p:txBody>
      </p:sp>
      <p:sp>
        <p:nvSpPr>
          <p:cNvPr id="49" name="el-1791603215992-11"/>
          <p:cNvSpPr txBox="1"/>
          <p:nvPr/>
        </p:nvSpPr>
        <p:spPr>
          <a:xfrm>
            <a:off x="837990" y="2592944"/>
            <a:ext cx="4723219" cy="6151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414"/>
              </a:lnSpc>
            </a:pPr>
            <a:r>
              <a:rPr sz="142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多产品组合、多渠道布局、灵活定价、返利刺激、及时贴现回笼现金——每季度看数据再决策。</a:t>
            </a:r>
            <a:endParaRPr/>
          </a:p>
        </p:txBody>
      </p:sp>
      <p:sp>
        <p:nvSpPr>
          <p:cNvPr id="50" name="el-1791603215992-12"/>
          <p:cNvSpPr txBox="1"/>
          <p:nvPr/>
        </p:nvSpPr>
        <p:spPr>
          <a:xfrm>
            <a:off x="6637265" y="2164426"/>
            <a:ext cx="4847013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1490" spc="225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不足的地方</a:t>
            </a:r>
            <a:endParaRPr/>
          </a:p>
        </p:txBody>
      </p:sp>
      <p:sp>
        <p:nvSpPr>
          <p:cNvPr id="51" name="el-1791603215992-13"/>
          <p:cNvSpPr txBox="1"/>
          <p:nvPr/>
        </p:nvSpPr>
        <p:spPr>
          <a:xfrm>
            <a:off x="6637265" y="2592944"/>
            <a:ext cx="4713696" cy="6151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414"/>
              </a:lnSpc>
            </a:pPr>
            <a:r>
              <a:rPr sz="142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前期产品设计有些反复，撤销和重新设计浪费了一部分费用；部分季度广告投入波动较大，投放节奏还可以更稳。</a:t>
            </a:r>
            <a:endParaRPr/>
          </a:p>
        </p:txBody>
      </p:sp>
      <p:sp>
        <p:nvSpPr>
          <p:cNvPr id="52" name="el-1791603215992-14"/>
          <p:cNvSpPr txBox="1"/>
          <p:nvPr/>
        </p:nvSpPr>
        <p:spPr>
          <a:xfrm>
            <a:off x="2287512" y="4160307"/>
            <a:ext cx="1813696" cy="609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3290">
                <a:solidFill>
                  <a:srgbClr val="7A7A7A"/>
                </a:solidFill>
                <a:latin typeface="Arial"/>
                <a:ea typeface="Arial"/>
                <a:cs typeface="Arial"/>
              </a:rPr>
              <a:t>120万</a:t>
            </a:r>
            <a:endParaRPr/>
          </a:p>
        </p:txBody>
      </p:sp>
      <p:sp>
        <p:nvSpPr>
          <p:cNvPr id="53" name="el-1791603215992-15"/>
          <p:cNvSpPr txBox="1"/>
          <p:nvPr/>
        </p:nvSpPr>
        <p:spPr>
          <a:xfrm>
            <a:off x="3653263" y="4246011"/>
            <a:ext cx="582933" cy="495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269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/>
          </a:p>
        </p:txBody>
      </p:sp>
      <p:sp>
        <p:nvSpPr>
          <p:cNvPr id="54" name="el-1791603215992-16"/>
          <p:cNvSpPr txBox="1"/>
          <p:nvPr/>
        </p:nvSpPr>
        <p:spPr>
          <a:xfrm>
            <a:off x="4243815" y="3941287"/>
            <a:ext cx="4862428" cy="837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b="1" sz="6590">
                <a:solidFill>
                  <a:srgbClr val="F25532"/>
                </a:solidFill>
                <a:latin typeface="Arial"/>
                <a:ea typeface="Arial"/>
                <a:cs typeface="Arial"/>
              </a:rPr>
              <a:t>837.6万</a:t>
            </a:r>
            <a:endParaRPr/>
          </a:p>
        </p:txBody>
      </p:sp>
      <p:sp>
        <p:nvSpPr>
          <p:cNvPr id="55" name="el-1791603215989-8"/>
          <p:cNvSpPr txBox="1"/>
          <p:nvPr/>
        </p:nvSpPr>
        <p:spPr>
          <a:xfrm>
            <a:off x="7502633" y="4222204"/>
            <a:ext cx="2775754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第6季度末现金，增长约 </a:t>
            </a:r>
            <a:r>
              <a:rPr b="1" sz="1490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149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倍</a:t>
            </a:r>
            <a:endParaRPr/>
          </a:p>
        </p:txBody>
      </p:sp>
      <p:sp>
        <p:nvSpPr>
          <p:cNvPr id="56" name="el-1791603215989-9"/>
          <p:cNvSpPr txBox="1"/>
          <p:nvPr/>
        </p:nvSpPr>
        <p:spPr>
          <a:xfrm>
            <a:off x="837990" y="5207795"/>
            <a:ext cx="5332667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spc="75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感谢</a:t>
            </a:r>
            <a:r>
              <a:rPr b="1" sz="1490" spc="75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老师</a:t>
            </a:r>
            <a:r>
              <a:rPr sz="1490" spc="75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的悉心指导，感谢</a:t>
            </a:r>
            <a:r>
              <a:rPr b="1" sz="1490" spc="75">
                <a:solidFill>
                  <a:srgbClr val="F25532"/>
                </a:solidFill>
                <a:latin typeface="Microsoft YaHei"/>
                <a:ea typeface="Microsoft YaHei"/>
                <a:cs typeface="Microsoft YaHei"/>
              </a:rPr>
              <a:t>第六组每一位同学</a:t>
            </a:r>
            <a:r>
              <a:rPr sz="1490" spc="75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的默契配合。</a:t>
            </a:r>
            <a:endParaRPr/>
          </a:p>
        </p:txBody>
      </p:sp>
      <p:sp>
        <p:nvSpPr>
          <p:cNvPr id="57" name="el-1791603215985-3"/>
          <p:cNvSpPr txBox="1"/>
          <p:nvPr/>
        </p:nvSpPr>
        <p:spPr>
          <a:xfrm>
            <a:off x="837990" y="6523851"/>
            <a:ext cx="3329881" cy="1333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BULUO · GROUP 06 · THANKS</a:t>
            </a:r>
            <a:endParaRPr/>
          </a:p>
        </p:txBody>
      </p:sp>
      <p:sp>
        <p:nvSpPr>
          <p:cNvPr id="58" name="el-1791603215985-4"/>
          <p:cNvSpPr txBox="1"/>
          <p:nvPr/>
        </p:nvSpPr>
        <p:spPr>
          <a:xfrm>
            <a:off x="10801477" y="6523851"/>
            <a:ext cx="885443" cy="1333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spc="225">
                <a:solidFill>
                  <a:srgbClr val="7A7A7A"/>
                </a:solidFill>
                <a:latin typeface="Arial"/>
                <a:ea typeface="Arial"/>
                <a:cs typeface="Arial"/>
              </a:rPr>
              <a:t>07 / 07</a:t>
            </a:r>
            <a:endParaRPr/>
          </a:p>
        </p:txBody>
      </p:sp>
      <p:sp>
        <p:nvSpPr>
          <p:cNvPr id="59" name="el-1791603215986-5"/>
          <p:cNvSpPr/>
          <p:nvPr/>
        </p:nvSpPr>
        <p:spPr>
          <a:xfrm>
            <a:off x="0" y="857"/>
            <a:ext cx="114271" cy="60944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2553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html-to-pptx-demo</Application>
  <Slides>7</Slides>
  <Notes>0</Notes>
  <HiddenSlides>0</HiddenSlides>
  <MMClips>0</MMClips>
  <ScaleCrop>false</ScaleCrop>
  <HeadingPairs>
    <vt:vector size="2" baseType="variant">
      <vt:variant>
        <vt:lpstr>主题</vt:lpstr>
      </vt:variant>
      <vt:variant>
        <vt:i4>1</vt:i4>
      </vt:variant>
    </vt:vector>
  </HeadingPairs>
  <TitlesOfParts>
    <vt:vector size="1" baseType="lpstr">
      <vt:lpstr>默认</vt:lpstr>
    </vt:vector>
  </TitlesOfParts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html-to-pptx-demo</cp:lastModifiedBy>
  <dcterms:created xsi:type="dcterms:W3CDTF">2026-10-10T03:33:41.323Z</dcterms:created>
  <dcterms:modified xsi:type="dcterms:W3CDTF">2026-10-10T03:33:41.323Z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1" name="AIGC">
    <vt:lpwstr>{"Label":"1","ContentProducer":"001191110108587665983J10000","ProduceID":"1694919267_41edaed4-8636-458f-939b-da6278a29e3e","ReservedCode1":"","ContentPropagator":"001191110108587665983J20000","PropagateID":"1694919267_41edaed4-8636-458f-939b-da6278a29e3e","ReservedCode2":""}</vt:lpwstr>
  </property>
</Properties>
</file>